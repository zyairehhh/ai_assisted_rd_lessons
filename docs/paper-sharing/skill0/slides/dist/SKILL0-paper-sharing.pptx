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开场先给一句话主张：不是更会检索 skill，而是训练时用 skill、推理时不带 skill。随后提示听众，这个问题和训练团队关心的经验池、RL、内化经验直接相关。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给出路线图。提醒大家后半段会把 SKILL0 和 AgentEvolver、SkillRL、MemSkill 放在一个坐标系里看。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过渡页：Motivation。提醒听众这一部分关注 为什么“运行时找 skill”不是终点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这一页先建立共同语言：大多数 skill 方法是在推理时检索和注入 skill。它像给模型随身带说明书，短期有效，但推理成本和依赖都留着。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三个限制逐个讲：噪声、成本、没有学进去。这里可以停一下，问听众：我们自己的经验池方法有没有同样问题。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这一页讲论文的范式转移。skill 不再是推理期依赖，而是训练脚手架。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过渡页：Method。提醒听众这一部分关注 ICRL + dynamic curriculum + visual compression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把方法的三件套串起来讲。强调终点是 zero-skill inference，而不是更聪明的 retrieval。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解释 skill library 的层次：通用 skill 和任务专属 skill。这里不需要展开每个 markdown，只讲它们是训练时 scaffold。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讲视觉上下文压缩时要避免让听众误以为只是工程优化。这里的 interesting point 是压缩比也由 policy 决定，并被 reward 引导。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这里给一个训练课程中的类比：先带着示范做题，再逐步撤掉提示，最后闭卷完成。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重点讲 helpfulness 的含义：同一个 skill 对不同训练阶段的 policy 价值会变，所以 curriculum 要跟着 policy 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这一页讲 budget 退火。把默认预算数字念出来即可，不需要在公式上停太久。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注意讲清楚边界：reward 主要鼓励任务和压缩，不是单靠 reward 内化 skill；内化来自训练过程中持续去 skill。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过渡页：Evidence。提醒听众这一部分关注 结果是否支撑“skill 已内化”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快速过实验设置。这里不需要展开所有数据集，核心是说明覆盖了环境行动和搜索问答两类 agentic 任务。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解释数字时强调条件：zero-skill inference。AgentOCR 的数值由论文报告的提升量反推，用作对比锚点。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 token efficiency 讲成工程收益，而不只是论文指标。低 token 也意味着更可部署。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这页不要把示意曲线当精确数值。重点讲现象：如果无 skill 的验证后期追上，说明模型不只是依赖提示词。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解释两个失败模式：full skill 依赖太强；低预算限制早期探索。SKILL0 折中，但不是简单折中，而是动态选择。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 ablation 支撑论文核心：不是撤 skill 这个动作本身，而是 helpfulness-driven 撤 skill。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过渡页：Related Work。提醒听众这一部分关注 AgentEvolver / MemSkill / SkillRL 放进同一张图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这里用比喻帮助听众记住差异。也提醒 AgentEvolver 有 stripping 机制，所以不是简单 prompt 记忆。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这页是相关工作对比的主表。不要逐格念，重点讲最后一行的三个比喻，帮助定位 SKILL0 的独特性。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这一页落到团队研究：经验池先用于提升 rollout，之后用 curriculum 逐步减少经验暴露，逼 policy 接管能力。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这一页适合作为讨论前的 checklist。可以邀请训练团队针对自己的任务逐项回答。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用四句话收束。如果时间不足，可以直接用这一页做最后总结。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收尾时直接念这句话，然后进入讨论。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31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313F"/>
          </a:solidFill>
          <a:ln w="12700">
            <a:solidFill>
              <a:srgbClr val="24313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A7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0"/>
            <a:ext cx="73152" cy="6858000"/>
          </a:xfrm>
          <a:prstGeom prst="rect">
            <a:avLst/>
          </a:prstGeom>
          <a:solidFill>
            <a:srgbClr val="E4572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932688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SKILL0</a:t>
            </a:r>
            <a:endParaRPr lang="en-US" sz="4900" dirty="0"/>
          </a:p>
        </p:txBody>
      </p:sp>
      <p:sp>
        <p:nvSpPr>
          <p:cNvPr id="6" name="Text 4"/>
          <p:cNvSpPr/>
          <p:nvPr/>
        </p:nvSpPr>
        <p:spPr>
          <a:xfrm>
            <a:off x="832104" y="1883664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DE8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In-Context Agentic RL · Skill Internalization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41248" y="2907792"/>
            <a:ext cx="73152" cy="1005840"/>
          </a:xfrm>
          <a:prstGeom prst="rect">
            <a:avLst/>
          </a:prstGeom>
          <a:solidFill>
            <a:srgbClr val="D89922"/>
          </a:solidFill>
          <a:ln w="12700">
            <a:solidFill>
              <a:srgbClr val="D8992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2971800"/>
            <a:ext cx="5394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Skills at training,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zero at inference.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41248" y="4736592"/>
            <a:ext cx="1481328" cy="329184"/>
          </a:xfrm>
          <a:prstGeom prst="roundRect">
            <a:avLst>
              <a:gd name="adj" fmla="val 22222"/>
            </a:avLst>
          </a:prstGeom>
          <a:solidFill>
            <a:srgbClr val="466072"/>
          </a:solidFill>
          <a:ln w="12700">
            <a:solidFill>
              <a:srgbClr val="46607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4812487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训练团队论文分享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2505456" y="4736592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466072"/>
          </a:solidFill>
          <a:ln w="12700">
            <a:solidFill>
              <a:srgbClr val="46607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15184" y="4812487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Agentic RL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3776472" y="4736592"/>
            <a:ext cx="1591056" cy="329184"/>
          </a:xfrm>
          <a:prstGeom prst="roundRect">
            <a:avLst>
              <a:gd name="adj" fmla="val 22222"/>
            </a:avLst>
          </a:prstGeom>
          <a:solidFill>
            <a:srgbClr val="466072"/>
          </a:solidFill>
          <a:ln w="12700">
            <a:solidFill>
              <a:srgbClr val="466072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86200" y="4812487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Internalization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7534656" y="1298448"/>
            <a:ext cx="2286000" cy="804672"/>
          </a:xfrm>
          <a:prstGeom prst="roundRect">
            <a:avLst>
              <a:gd name="adj" fmla="val 9091"/>
            </a:avLst>
          </a:prstGeom>
          <a:solidFill>
            <a:srgbClr val="324456"/>
          </a:solidFill>
          <a:ln w="10160">
            <a:solidFill>
              <a:srgbClr val="4D61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0" y="1444752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训练时借助 skill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90688" y="2761488"/>
            <a:ext cx="2286000" cy="804672"/>
          </a:xfrm>
          <a:prstGeom prst="roundRect">
            <a:avLst>
              <a:gd name="adj" fmla="val 9091"/>
            </a:avLst>
          </a:prstGeom>
          <a:solidFill>
            <a:srgbClr val="324456"/>
          </a:solidFill>
          <a:ln w="10160">
            <a:solidFill>
              <a:srgbClr val="4D617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36992" y="2907792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逐步减少暴露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46720" y="4224528"/>
            <a:ext cx="2286000" cy="804672"/>
          </a:xfrm>
          <a:prstGeom prst="roundRect">
            <a:avLst>
              <a:gd name="adj" fmla="val 9091"/>
            </a:avLst>
          </a:prstGeom>
          <a:solidFill>
            <a:srgbClr val="007A7A"/>
          </a:solidFill>
          <a:ln w="10160">
            <a:solidFill>
              <a:srgbClr val="007A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93024" y="4370832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推理时 0 skill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668512" y="2176272"/>
            <a:ext cx="237744" cy="502920"/>
          </a:xfrm>
          <a:prstGeom prst="line">
            <a:avLst/>
          </a:prstGeom>
          <a:noFill/>
          <a:ln w="17780">
            <a:solidFill>
              <a:srgbClr val="D89922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924544" y="3639312"/>
            <a:ext cx="237744" cy="502920"/>
          </a:xfrm>
          <a:prstGeom prst="line">
            <a:avLst/>
          </a:prstGeom>
          <a:noFill/>
          <a:ln w="17780">
            <a:solidFill>
              <a:srgbClr val="D89922"/>
            </a:solidFill>
            <a:prstDash val="solid"/>
            <a:headEnd type="none"/>
            <a:tailEnd type="triangle"/>
          </a:ln>
        </p:spPr>
      </p:sp>
      <p:sp>
        <p:nvSpPr>
          <p:cNvPr id="24" name="Text 21"/>
          <p:cNvSpPr/>
          <p:nvPr/>
        </p:nvSpPr>
        <p:spPr>
          <a:xfrm>
            <a:off x="11201400" y="64190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6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A7A"/>
          </a:solidFill>
          <a:ln w="12700">
            <a:solidFill>
              <a:srgbClr val="007A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64556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C9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Talk map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310896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今天讲清楚 4 件事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85216" y="82296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6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目标不是逐段复述论文，而是抽出可迁移的训练设计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13232" y="1444752"/>
            <a:ext cx="10652760" cy="713232"/>
          </a:xfrm>
          <a:prstGeom prst="roundRect">
            <a:avLst>
              <a:gd name="adj" fmla="val 10256"/>
            </a:avLst>
          </a:prstGeom>
          <a:solidFill>
            <a:srgbClr val="FDECE6"/>
          </a:solidFill>
          <a:ln w="10160">
            <a:solidFill>
              <a:srgbClr val="FDEC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" y="1645920"/>
            <a:ext cx="310896" cy="310896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1696212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444752" y="161848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5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0" y="164592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inference-time skill augmentation 会遇到瓶颈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713232" y="2523744"/>
            <a:ext cx="10652760" cy="713232"/>
          </a:xfrm>
          <a:prstGeom prst="roundRect">
            <a:avLst>
              <a:gd name="adj" fmla="val 10256"/>
            </a:avLst>
          </a:prstGeom>
          <a:solidFill>
            <a:srgbClr val="E7F5F2"/>
          </a:solidFill>
          <a:ln w="10160">
            <a:solidFill>
              <a:srgbClr val="E7F5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9264" y="2724912"/>
            <a:ext cx="310896" cy="310896"/>
          </a:xfrm>
          <a:prstGeom prst="ellipse">
            <a:avLst/>
          </a:prstGeom>
          <a:solidFill>
            <a:srgbClr val="007A7A"/>
          </a:solidFill>
          <a:ln w="12700">
            <a:solidFill>
              <a:srgbClr val="007A7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2775204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444752" y="269748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43200" y="2724912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ICRL、动态 curriculum、视觉上下文压缩如何配合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713232" y="3602736"/>
            <a:ext cx="10652760" cy="713232"/>
          </a:xfrm>
          <a:prstGeom prst="roundRect">
            <a:avLst>
              <a:gd name="adj" fmla="val 10256"/>
            </a:avLst>
          </a:prstGeom>
          <a:solidFill>
            <a:srgbClr val="EAF0FF"/>
          </a:solidFill>
          <a:ln w="10160">
            <a:solidFill>
              <a:srgbClr val="EAF0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9264" y="3803904"/>
            <a:ext cx="310896" cy="310896"/>
          </a:xfrm>
          <a:prstGeom prst="ellipse">
            <a:avLst/>
          </a:prstGeom>
          <a:solidFill>
            <a:srgbClr val="3867D6"/>
          </a:solidFill>
          <a:ln w="12700">
            <a:solidFill>
              <a:srgbClr val="3867D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9264" y="3854196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444752" y="377647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867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743200" y="3803904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主结果、token efficiency、training dynamics 和 ablation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713232" y="4681728"/>
            <a:ext cx="10652760" cy="713232"/>
          </a:xfrm>
          <a:prstGeom prst="roundRect">
            <a:avLst>
              <a:gd name="adj" fmla="val 10256"/>
            </a:avLst>
          </a:prstGeom>
          <a:solidFill>
            <a:srgbClr val="EAF6EE"/>
          </a:solidFill>
          <a:ln w="10160">
            <a:solidFill>
              <a:srgbClr val="EAF6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9264" y="4882896"/>
            <a:ext cx="310896" cy="310896"/>
          </a:xfrm>
          <a:prstGeom prst="ellipse">
            <a:avLst/>
          </a:prstGeom>
          <a:solidFill>
            <a:srgbClr val="2F7D4A"/>
          </a:solidFill>
          <a:ln w="12700">
            <a:solidFill>
              <a:srgbClr val="2F7D4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9264" y="4933188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444752" y="485546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F7D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启发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743200" y="4882896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如何迁移到经验池 + RL + 内化经验的研究路线</a:t>
            </a:r>
            <a:endParaRPr lang="en-US" sz="1220" dirty="0"/>
          </a:p>
        </p:txBody>
      </p:sp>
      <p:sp>
        <p:nvSpPr>
          <p:cNvPr id="28" name="Text 25"/>
          <p:cNvSpPr/>
          <p:nvPr/>
        </p:nvSpPr>
        <p:spPr>
          <a:xfrm>
            <a:off x="11201400" y="64190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6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431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313F"/>
          </a:solidFill>
          <a:ln w="12700">
            <a:solidFill>
              <a:srgbClr val="24313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1024128"/>
            <a:ext cx="146304" cy="804672"/>
          </a:xfrm>
          <a:prstGeom prst="rect">
            <a:avLst/>
          </a:prstGeom>
          <a:solidFill>
            <a:srgbClr val="007A7A"/>
          </a:solidFill>
          <a:ln w="12700">
            <a:solidFill>
              <a:srgbClr val="007A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024128"/>
            <a:ext cx="146304" cy="804672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992" y="1024128"/>
            <a:ext cx="146304" cy="804672"/>
          </a:xfrm>
          <a:prstGeom prst="rect">
            <a:avLst/>
          </a:prstGeom>
          <a:solidFill>
            <a:srgbClr val="D89922"/>
          </a:solidFill>
          <a:ln w="12700">
            <a:solidFill>
              <a:srgbClr val="D8992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8448" y="98755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FC1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80160" y="1417320"/>
            <a:ext cx="8961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Motivation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307592" y="235915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DCE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为什么“运行时找 skill”不是终点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241280" y="5102352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500" b="1" dirty="0">
                <a:solidFill>
                  <a:srgbClr val="5B6B7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3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A7A"/>
          </a:solidFill>
          <a:ln w="12700">
            <a:solidFill>
              <a:srgbClr val="007A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64556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C9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Motivation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310896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现有范式：inference-time skill augmentation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85216" y="82296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6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每一步检索相关 skill，把 skill 文本塞进 prompt，辅助 agent 做当前决策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49808" y="1901952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048256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 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 observation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07792" y="1298448"/>
            <a:ext cx="1609344" cy="822960"/>
          </a:xfrm>
          <a:prstGeom prst="roundRect">
            <a:avLst>
              <a:gd name="adj" fmla="val 8889"/>
            </a:avLst>
          </a:prstGeom>
          <a:solidFill>
            <a:srgbClr val="EAF0FF"/>
          </a:solidFill>
          <a:ln w="10160">
            <a:solidFill>
              <a:srgbClr val="3867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54096" y="1444752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bank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 top-k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65776" y="1901952"/>
            <a:ext cx="1874520" cy="822960"/>
          </a:xfrm>
          <a:prstGeom prst="roundRect">
            <a:avLst>
              <a:gd name="adj" fmla="val 8889"/>
            </a:avLst>
          </a:prstGeom>
          <a:solidFill>
            <a:srgbClr val="FFF4D8"/>
          </a:solidFill>
          <a:ln w="10160">
            <a:solidFill>
              <a:srgbClr val="D899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2048256"/>
            <a:ext cx="1581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history + skills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16368" y="1901952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E7F5F2"/>
          </a:solidFill>
          <a:ln w="10160">
            <a:solidFill>
              <a:srgbClr val="007A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62672" y="2048256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policy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 action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674352" y="1901952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20656" y="2048256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环境反馈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下一轮继续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395728" y="2313432"/>
            <a:ext cx="2560320" cy="0"/>
          </a:xfrm>
          <a:prstGeom prst="line">
            <a:avLst/>
          </a:prstGeom>
          <a:noFill/>
          <a:ln w="17780">
            <a:solidFill>
              <a:srgbClr val="596677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517136" y="1709928"/>
            <a:ext cx="512064" cy="347472"/>
          </a:xfrm>
          <a:prstGeom prst="line">
            <a:avLst/>
          </a:prstGeom>
          <a:noFill/>
          <a:ln w="17780">
            <a:solidFill>
              <a:srgbClr val="3867D6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967728" y="2313432"/>
            <a:ext cx="475488" cy="0"/>
          </a:xfrm>
          <a:prstGeom prst="line">
            <a:avLst/>
          </a:prstGeom>
          <a:noFill/>
          <a:ln w="17780">
            <a:solidFill>
              <a:srgbClr val="596677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180576" y="2313432"/>
            <a:ext cx="420624" cy="0"/>
          </a:xfrm>
          <a:prstGeom prst="line">
            <a:avLst/>
          </a:prstGeom>
          <a:noFill/>
          <a:ln w="17780">
            <a:solidFill>
              <a:srgbClr val="596677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32688" y="3858768"/>
            <a:ext cx="100126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61872" y="409651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它有效，但能力还在 context 里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340096" y="4133088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966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SKILL0 的切入点：既然每次推理都要带说明书，模型到底有没有真正学会？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1201400" y="64190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6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A7A"/>
          </a:solidFill>
          <a:ln w="12700">
            <a:solidFill>
              <a:srgbClr val="007A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64556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C9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Motivation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310896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三个根本限制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85216" y="82296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6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SKILL0 把问题从“如何检索 skill”改写成“如何摆脱 skill”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13232" y="1481328"/>
            <a:ext cx="3246120" cy="3401568"/>
          </a:xfrm>
          <a:prstGeom prst="roundRect">
            <a:avLst>
              <a:gd name="adj" fmla="val 2254"/>
            </a:avLst>
          </a:prstGeom>
          <a:solidFill>
            <a:srgbClr val="FDECE6"/>
          </a:solidFill>
          <a:ln w="10160">
            <a:solidFill>
              <a:srgbClr val="FDECE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9264" y="1755648"/>
            <a:ext cx="658368" cy="6583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2633472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45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retrieval noise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24128" y="3218688"/>
            <a:ext cx="25054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不相关或误导性的 guidance 被注入上下文，影响当前 step 决策。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4462272" y="1481328"/>
            <a:ext cx="3246120" cy="3401568"/>
          </a:xfrm>
          <a:prstGeom prst="roundRect">
            <a:avLst>
              <a:gd name="adj" fmla="val 2254"/>
            </a:avLst>
          </a:prstGeom>
          <a:solidFill>
            <a:srgbClr val="FFF4D8"/>
          </a:solidFill>
          <a:ln w="10160">
            <a:solidFill>
              <a:srgbClr val="FFF4D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18304" y="1755648"/>
            <a:ext cx="658368" cy="6583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54880" y="2633472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899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overhead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773168" y="3218688"/>
            <a:ext cx="25054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内容在多轮交互中反复占用上下文预算，扩展性差。</a:t>
            </a:r>
            <a:endParaRPr lang="en-US" sz="1120" dirty="0"/>
          </a:p>
        </p:txBody>
      </p:sp>
      <p:sp>
        <p:nvSpPr>
          <p:cNvPr id="15" name="Shape 11"/>
          <p:cNvSpPr/>
          <p:nvPr/>
        </p:nvSpPr>
        <p:spPr>
          <a:xfrm>
            <a:off x="8211312" y="1481328"/>
            <a:ext cx="3246120" cy="3401568"/>
          </a:xfrm>
          <a:prstGeom prst="roundRect">
            <a:avLst>
              <a:gd name="adj" fmla="val 2254"/>
            </a:avLst>
          </a:prstGeom>
          <a:solidFill>
            <a:srgbClr val="E7F5F2"/>
          </a:solidFill>
          <a:ln w="10160">
            <a:solidFill>
              <a:srgbClr val="E7F5F2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67344" y="1755648"/>
            <a:ext cx="658368" cy="6583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03920" y="2633472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 internalized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522208" y="3218688"/>
            <a:ext cx="25054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模型只是照着 prompt 执行，能力仍在上下文中，而不在参数里。</a:t>
            </a:r>
            <a:endParaRPr lang="en-US" sz="1120" dirty="0"/>
          </a:p>
        </p:txBody>
      </p:sp>
      <p:sp>
        <p:nvSpPr>
          <p:cNvPr id="19" name="Shape 14"/>
          <p:cNvSpPr/>
          <p:nvPr/>
        </p:nvSpPr>
        <p:spPr>
          <a:xfrm>
            <a:off x="932688" y="5486400"/>
            <a:ext cx="54864" cy="530352"/>
          </a:xfrm>
          <a:prstGeom prst="rect">
            <a:avLst/>
          </a:prstGeom>
          <a:solidFill>
            <a:srgbClr val="007A7A"/>
          </a:solidFill>
          <a:ln w="12700">
            <a:solidFill>
              <a:srgbClr val="007A7A">
                <a:alpha val="0"/>
              </a:srgbClr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1133856" y="5522976"/>
            <a:ext cx="9491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关键问题：能不能把 skill 直接内化到模型参数中？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11201400" y="64190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6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A7A"/>
          </a:solidFill>
          <a:ln w="12700">
            <a:solidFill>
              <a:srgbClr val="007A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64556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C9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Motivation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310896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SKILL0 的主张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85216" y="82296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6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训练时借助 skill，推理时完全无 skill，实现 zero-shot autonomous behavior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68680" y="1554480"/>
            <a:ext cx="470916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25296" y="188366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45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不是优化 retrieval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35024" y="259689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不再把 skill bank 当成推理期外挂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35024" y="305409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不把 top-k 检索质量作为核心目标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35024" y="351129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不希望模型长期依赖外部说明书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37960" y="1554480"/>
            <a:ext cx="4709160" cy="3520440"/>
          </a:xfrm>
          <a:prstGeom prst="roundRect">
            <a:avLst>
              <a:gd name="adj" fmla="val 2078"/>
            </a:avLst>
          </a:prstGeom>
          <a:solidFill>
            <a:srgbClr val="E7F5F2"/>
          </a:solidFill>
          <a:ln w="10160">
            <a:solidFill>
              <a:srgbClr val="E7F5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94576" y="188366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0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而是优化 internalization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004304" y="259689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 rollout 阶段提供 structured guidance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004304" y="305409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训练后期逐步撤掉 active skills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004304" y="351129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 policy 参数自己执行复杂行为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715000" y="3310128"/>
            <a:ext cx="621792" cy="0"/>
          </a:xfrm>
          <a:prstGeom prst="line">
            <a:avLst/>
          </a:prstGeom>
          <a:noFill/>
          <a:ln w="17780">
            <a:solidFill>
              <a:srgbClr val="D89922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5632704" y="281635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D899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研究重点迁移</a:t>
            </a:r>
            <a:endParaRPr lang="en-US" sz="820" dirty="0"/>
          </a:p>
        </p:txBody>
      </p:sp>
      <p:sp>
        <p:nvSpPr>
          <p:cNvPr id="20" name="Text 17"/>
          <p:cNvSpPr/>
          <p:nvPr/>
        </p:nvSpPr>
        <p:spPr>
          <a:xfrm>
            <a:off x="11201400" y="64190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6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431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313F"/>
          </a:solidFill>
          <a:ln w="12700">
            <a:solidFill>
              <a:srgbClr val="24313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1024128"/>
            <a:ext cx="146304" cy="804672"/>
          </a:xfrm>
          <a:prstGeom prst="rect">
            <a:avLst/>
          </a:prstGeom>
          <a:solidFill>
            <a:srgbClr val="007A7A"/>
          </a:solidFill>
          <a:ln w="12700">
            <a:solidFill>
              <a:srgbClr val="007A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024128"/>
            <a:ext cx="146304" cy="804672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992" y="1024128"/>
            <a:ext cx="146304" cy="804672"/>
          </a:xfrm>
          <a:prstGeom prst="rect">
            <a:avLst/>
          </a:prstGeom>
          <a:solidFill>
            <a:srgbClr val="D89922"/>
          </a:solidFill>
          <a:ln w="12700">
            <a:solidFill>
              <a:srgbClr val="D8992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8448" y="98755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FC1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80160" y="1417320"/>
            <a:ext cx="8961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Method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307592" y="235915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DCE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ICRL + dynamic curriculum + visual compression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241280" y="5102352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500" b="1" dirty="0">
                <a:solidFill>
                  <a:srgbClr val="5B6B7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3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A7A"/>
          </a:solidFill>
          <a:ln w="12700">
            <a:solidFill>
              <a:srgbClr val="007A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64556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C9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Method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310896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整体框架：三块组件服务一个终点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85216" y="82296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6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对应论文 Figure 2：先组织 skill，再用 skill 训练，最后逐步去 skill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1865376"/>
            <a:ext cx="2148840" cy="2304288"/>
          </a:xfrm>
          <a:prstGeom prst="roundRect">
            <a:avLst>
              <a:gd name="adj" fmla="val 3404"/>
            </a:avLst>
          </a:prstGeom>
          <a:solidFill>
            <a:srgbClr val="EAF0FF"/>
          </a:solidFill>
          <a:ln w="10160">
            <a:solidFill>
              <a:srgbClr val="EAF0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1832" y="2066544"/>
            <a:ext cx="310896" cy="310896"/>
          </a:xfrm>
          <a:prstGeom prst="ellipse">
            <a:avLst/>
          </a:prstGeom>
          <a:solidFill>
            <a:srgbClr val="3867D6"/>
          </a:solidFill>
          <a:ln w="12700">
            <a:solidFill>
              <a:srgbClr val="3867D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2116836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69264" y="2578608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3867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Relevance-Driven</a:t>
            </a:r>
            <a:endParaRPr lang="en-US" sz="1330" dirty="0"/>
          </a:p>
          <a:p>
            <a:pPr indent="0" marL="0">
              <a:buNone/>
            </a:pPr>
            <a:r>
              <a:rPr lang="en-US" sz="1330" b="1" dirty="0">
                <a:solidFill>
                  <a:srgbClr val="3867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Grouping</a:t>
            </a:r>
            <a:endParaRPr lang="en-US" sz="1330" dirty="0"/>
          </a:p>
        </p:txBody>
      </p:sp>
      <p:sp>
        <p:nvSpPr>
          <p:cNvPr id="11" name="Text 9"/>
          <p:cNvSpPr/>
          <p:nvPr/>
        </p:nvSpPr>
        <p:spPr>
          <a:xfrm>
            <a:off x="969264" y="334670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训练前把 skill file 和验证子任务对齐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2907792" y="3017520"/>
            <a:ext cx="530352" cy="0"/>
          </a:xfrm>
          <a:prstGeom prst="line">
            <a:avLst/>
          </a:prstGeom>
          <a:noFill/>
          <a:ln w="17780">
            <a:solidFill>
              <a:srgbClr val="596677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584448" y="1865376"/>
            <a:ext cx="2148840" cy="2304288"/>
          </a:xfrm>
          <a:prstGeom prst="roundRect">
            <a:avLst>
              <a:gd name="adj" fmla="val 3404"/>
            </a:avLst>
          </a:prstGeom>
          <a:solidFill>
            <a:srgbClr val="E7F5F2"/>
          </a:solidFill>
          <a:ln w="10160">
            <a:solidFill>
              <a:srgbClr val="E7F5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94760" y="2066544"/>
            <a:ext cx="310896" cy="310896"/>
          </a:xfrm>
          <a:prstGeom prst="ellipse">
            <a:avLst/>
          </a:prstGeom>
          <a:solidFill>
            <a:srgbClr val="007A7A"/>
          </a:solidFill>
          <a:ln w="12700">
            <a:solidFill>
              <a:srgbClr val="007A7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94760" y="2116836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822192" y="2578608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00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In-Context</a:t>
            </a:r>
            <a:endParaRPr lang="en-US" sz="1330" dirty="0"/>
          </a:p>
          <a:p>
            <a:pPr indent="0" marL="0">
              <a:buNone/>
            </a:pPr>
            <a:r>
              <a:rPr lang="en-US" sz="1330" b="1" dirty="0">
                <a:solidFill>
                  <a:srgbClr val="00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Reinforcement Learning</a:t>
            </a:r>
            <a:endParaRPr lang="en-US" sz="1330" dirty="0"/>
          </a:p>
        </p:txBody>
      </p:sp>
      <p:sp>
        <p:nvSpPr>
          <p:cNvPr id="17" name="Text 15"/>
          <p:cNvSpPr/>
          <p:nvPr/>
        </p:nvSpPr>
        <p:spPr>
          <a:xfrm>
            <a:off x="3822192" y="334670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rollout 时给 skill，让 RL 学迁移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5760720" y="3017520"/>
            <a:ext cx="530352" cy="0"/>
          </a:xfrm>
          <a:prstGeom prst="line">
            <a:avLst/>
          </a:prstGeom>
          <a:noFill/>
          <a:ln w="17780">
            <a:solidFill>
              <a:srgbClr val="596677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437376" y="1865376"/>
            <a:ext cx="2148840" cy="2304288"/>
          </a:xfrm>
          <a:prstGeom prst="roundRect">
            <a:avLst>
              <a:gd name="adj" fmla="val 3404"/>
            </a:avLst>
          </a:prstGeom>
          <a:solidFill>
            <a:srgbClr val="FFF4D8"/>
          </a:solidFill>
          <a:ln w="10160">
            <a:solidFill>
              <a:srgbClr val="FFF4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47688" y="2066544"/>
            <a:ext cx="310896" cy="310896"/>
          </a:xfrm>
          <a:prstGeom prst="ellipse">
            <a:avLst/>
          </a:prstGeom>
          <a:solidFill>
            <a:srgbClr val="D89922"/>
          </a:solidFill>
          <a:ln w="12700">
            <a:solidFill>
              <a:srgbClr val="D89922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47688" y="2116836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675120" y="2578608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D899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Dynamic</a:t>
            </a:r>
            <a:endParaRPr lang="en-US" sz="1330" dirty="0"/>
          </a:p>
          <a:p>
            <a:pPr indent="0" marL="0">
              <a:buNone/>
            </a:pPr>
            <a:r>
              <a:rPr lang="en-US" sz="1330" b="1" dirty="0">
                <a:solidFill>
                  <a:srgbClr val="D899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Curriculum</a:t>
            </a:r>
            <a:endParaRPr lang="en-US" sz="1330" dirty="0"/>
          </a:p>
        </p:txBody>
      </p:sp>
      <p:sp>
        <p:nvSpPr>
          <p:cNvPr id="23" name="Text 21"/>
          <p:cNvSpPr/>
          <p:nvPr/>
        </p:nvSpPr>
        <p:spPr>
          <a:xfrm>
            <a:off x="6675120" y="334670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helpfulness 保留当前仍有用的 skill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8613648" y="3017520"/>
            <a:ext cx="530352" cy="0"/>
          </a:xfrm>
          <a:prstGeom prst="line">
            <a:avLst/>
          </a:prstGeom>
          <a:noFill/>
          <a:ln w="17780">
            <a:solidFill>
              <a:srgbClr val="596677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290304" y="1865376"/>
            <a:ext cx="2148840" cy="2304288"/>
          </a:xfrm>
          <a:prstGeom prst="roundRect">
            <a:avLst>
              <a:gd name="adj" fmla="val 3404"/>
            </a:avLst>
          </a:prstGeom>
          <a:solidFill>
            <a:srgbClr val="EAF6EE"/>
          </a:solidFill>
          <a:ln w="10160">
            <a:solidFill>
              <a:srgbClr val="EAF6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00616" y="2066544"/>
            <a:ext cx="310896" cy="310896"/>
          </a:xfrm>
          <a:prstGeom prst="ellipse">
            <a:avLst/>
          </a:prstGeom>
          <a:solidFill>
            <a:srgbClr val="2F7D4A"/>
          </a:solidFill>
          <a:ln w="12700">
            <a:solidFill>
              <a:srgbClr val="2F7D4A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00616" y="2116836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528048" y="2578608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2F7D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Zero-Skill</a:t>
            </a:r>
            <a:endParaRPr lang="en-US" sz="1330" dirty="0"/>
          </a:p>
          <a:p>
            <a:pPr indent="0" marL="0">
              <a:buNone/>
            </a:pPr>
            <a:r>
              <a:rPr lang="en-US" sz="1330" b="1" dirty="0">
                <a:solidFill>
                  <a:srgbClr val="2F7D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Inference</a:t>
            </a:r>
            <a:endParaRPr lang="en-US" sz="1330" dirty="0"/>
          </a:p>
        </p:txBody>
      </p:sp>
      <p:sp>
        <p:nvSpPr>
          <p:cNvPr id="29" name="Text 27"/>
          <p:cNvSpPr/>
          <p:nvPr/>
        </p:nvSpPr>
        <p:spPr>
          <a:xfrm>
            <a:off x="9528048" y="334670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部署时不再检索、不再注入 skill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914400" y="5212080"/>
            <a:ext cx="54864" cy="566928"/>
          </a:xfrm>
          <a:prstGeom prst="rect">
            <a:avLst/>
          </a:prstGeom>
          <a:solidFill>
            <a:srgbClr val="007A7A"/>
          </a:solidFill>
          <a:ln w="12700">
            <a:solidFill>
              <a:srgbClr val="007A7A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15568" y="5248656"/>
            <a:ext cx="97657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internalization 不是 reward 单点实现，而是训练流程把外部 scaffold 慢慢拿掉。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11201400" y="64190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6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A7A"/>
          </a:solidFill>
          <a:ln w="12700">
            <a:solidFill>
              <a:srgbClr val="007A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64556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C9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Method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310896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loop 与 skill library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85216" y="82296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6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agent 自动化建模为序列决策，skill bank 用分层 Markdown 管理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49808" y="1554480"/>
            <a:ext cx="148132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70078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Instruction 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49808" y="2395728"/>
            <a:ext cx="148132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54203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Observation o_t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9808" y="3236976"/>
            <a:ext cx="148132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38328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History h_t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07792" y="2148840"/>
            <a:ext cx="1719072" cy="1024128"/>
          </a:xfrm>
          <a:prstGeom prst="roundRect">
            <a:avLst>
              <a:gd name="adj" fmla="val 7143"/>
            </a:avLst>
          </a:prstGeom>
          <a:solidFill>
            <a:srgbClr val="E7F5F2"/>
          </a:solidFill>
          <a:ln w="10160">
            <a:solidFill>
              <a:srgbClr val="007A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54096" y="2295144"/>
            <a:ext cx="14264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Active Skills 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59552" y="2148840"/>
            <a:ext cx="1993392" cy="1024128"/>
          </a:xfrm>
          <a:prstGeom prst="roundRect">
            <a:avLst>
              <a:gd name="adj" fmla="val 7143"/>
            </a:avLst>
          </a:prstGeom>
          <a:solidFill>
            <a:srgbClr val="EAF0FF"/>
          </a:solidFill>
          <a:ln w="10160">
            <a:solidFill>
              <a:srgbClr val="3867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05856" y="2295144"/>
            <a:ext cx="17007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Policy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πθ(a_t | I, h_t)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458200" y="1627632"/>
            <a:ext cx="148132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04504" y="177393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Action a_t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458200" y="3090672"/>
            <a:ext cx="148132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04504" y="323697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Env feedback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67712" y="1856232"/>
            <a:ext cx="548640" cy="576072"/>
          </a:xfrm>
          <a:prstGeom prst="line">
            <a:avLst/>
          </a:prstGeom>
          <a:noFill/>
          <a:ln w="17780">
            <a:solidFill>
              <a:srgbClr val="596677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267712" y="2679192"/>
            <a:ext cx="548640" cy="-36576"/>
          </a:xfrm>
          <a:prstGeom prst="line">
            <a:avLst/>
          </a:prstGeom>
          <a:noFill/>
          <a:ln w="17780">
            <a:solidFill>
              <a:srgbClr val="596677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267712" y="3520440"/>
            <a:ext cx="548640" cy="-621792"/>
          </a:xfrm>
          <a:prstGeom prst="line">
            <a:avLst/>
          </a:prstGeom>
          <a:noFill/>
          <a:ln w="17780">
            <a:solidFill>
              <a:srgbClr val="596677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645152" y="2651760"/>
            <a:ext cx="822960" cy="0"/>
          </a:xfrm>
          <a:prstGeom prst="line">
            <a:avLst/>
          </a:prstGeom>
          <a:noFill/>
          <a:ln w="17780">
            <a:solidFill>
              <a:srgbClr val="007A7A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571232" y="2651760"/>
            <a:ext cx="768096" cy="-722376"/>
          </a:xfrm>
          <a:prstGeom prst="line">
            <a:avLst/>
          </a:prstGeom>
          <a:noFill/>
          <a:ln w="17780">
            <a:solidFill>
              <a:srgbClr val="3867D6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180576" y="2240280"/>
            <a:ext cx="0" cy="731520"/>
          </a:xfrm>
          <a:prstGeom prst="line">
            <a:avLst/>
          </a:prstGeom>
          <a:noFill/>
          <a:ln w="17780">
            <a:solidFill>
              <a:srgbClr val="596677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005840" y="4773168"/>
            <a:ext cx="4206240" cy="713232"/>
          </a:xfrm>
          <a:prstGeom prst="roundRect">
            <a:avLst>
              <a:gd name="adj" fmla="val 10256"/>
            </a:avLst>
          </a:prstGeom>
          <a:solidFill>
            <a:srgbClr val="FFF4D8"/>
          </a:solidFill>
          <a:ln w="10160">
            <a:solidFill>
              <a:srgbClr val="FFF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98448" y="495604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899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General skills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633472" y="49834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exploration / goal-tracking / common strategy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650992" y="4773168"/>
            <a:ext cx="4206240" cy="713232"/>
          </a:xfrm>
          <a:prstGeom prst="roundRect">
            <a:avLst>
              <a:gd name="adj" fmla="val 10256"/>
            </a:avLst>
          </a:prstGeom>
          <a:solidFill>
            <a:srgbClr val="FDECE6"/>
          </a:solidFill>
          <a:ln w="10160">
            <a:solidFill>
              <a:srgbClr val="FDEC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25312" y="495604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45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Task-specific skills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754112" y="498348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action sequence / preconditions / task category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297680" y="579729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966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skills/{task_name}/{skill_category}.md</a:t>
            </a:r>
            <a:endParaRPr lang="en-US" sz="780" dirty="0"/>
          </a:p>
        </p:txBody>
      </p:sp>
      <p:sp>
        <p:nvSpPr>
          <p:cNvPr id="35" name="Text 32"/>
          <p:cNvSpPr/>
          <p:nvPr/>
        </p:nvSpPr>
        <p:spPr>
          <a:xfrm>
            <a:off x="11201400" y="64190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6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A7A"/>
          </a:solidFill>
          <a:ln w="12700">
            <a:solidFill>
              <a:srgbClr val="007A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64556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C9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Method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310896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Context rendering：把长文本压成视觉上下文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85216" y="82296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6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history 与 skills 不直接长文本拼接，而是渲染成 RGB 图像再编码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2960" y="182880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1975104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interaction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history h_t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2907792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E7F5F2"/>
          </a:solidFill>
          <a:ln w="10160">
            <a:solidFill>
              <a:srgbClr val="007A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3054096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selected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skills 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2231136"/>
            <a:ext cx="1920240" cy="1042416"/>
          </a:xfrm>
          <a:prstGeom prst="roundRect">
            <a:avLst>
              <a:gd name="adj" fmla="val 7018"/>
            </a:avLst>
          </a:prstGeom>
          <a:solidFill>
            <a:srgbClr val="FFF4D8"/>
          </a:solidFill>
          <a:ln w="10160">
            <a:solidFill>
              <a:srgbClr val="D899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92424" y="2377440"/>
            <a:ext cx="16276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Render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RGB context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89320" y="2231136"/>
            <a:ext cx="2212848" cy="1042416"/>
          </a:xfrm>
          <a:prstGeom prst="roundRect">
            <a:avLst>
              <a:gd name="adj" fmla="val 7018"/>
            </a:avLst>
          </a:prstGeom>
          <a:solidFill>
            <a:srgbClr val="EAF0FF"/>
          </a:solidFill>
          <a:ln w="10160">
            <a:solidFill>
              <a:srgbClr val="3867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35624" y="2377440"/>
            <a:ext cx="1920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Vision Encoder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V_t = Enc(h_t,S;c_t)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70848" y="2231136"/>
            <a:ext cx="1810512" cy="1042416"/>
          </a:xfrm>
          <a:prstGeom prst="roundRect">
            <a:avLst>
              <a:gd name="adj" fmla="val 7018"/>
            </a:avLst>
          </a:prstGeom>
          <a:solidFill>
            <a:srgbClr val="FDECE6"/>
          </a:solidFill>
          <a:ln w="10160">
            <a:solidFill>
              <a:srgbClr val="E457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17152" y="2377440"/>
            <a:ext cx="15179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Policy outputs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(a_t, c_t)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23744" y="2240280"/>
            <a:ext cx="603504" cy="320040"/>
          </a:xfrm>
          <a:prstGeom prst="line">
            <a:avLst/>
          </a:prstGeom>
          <a:noFill/>
          <a:ln w="17780">
            <a:solidFill>
              <a:srgbClr val="596677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523744" y="3319272"/>
            <a:ext cx="603504" cy="-502920"/>
          </a:xfrm>
          <a:prstGeom prst="line">
            <a:avLst/>
          </a:prstGeom>
          <a:noFill/>
          <a:ln w="17780">
            <a:solidFill>
              <a:srgbClr val="596677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193792" y="2752344"/>
            <a:ext cx="676656" cy="0"/>
          </a:xfrm>
          <a:prstGeom prst="line">
            <a:avLst/>
          </a:prstGeom>
          <a:noFill/>
          <a:ln w="17780">
            <a:solidFill>
              <a:srgbClr val="D89922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229600" y="2752344"/>
            <a:ext cx="749808" cy="0"/>
          </a:xfrm>
          <a:prstGeom prst="line">
            <a:avLst/>
          </a:prstGeom>
          <a:noFill/>
          <a:ln w="17780">
            <a:solidFill>
              <a:srgbClr val="3867D6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143000" y="4736592"/>
            <a:ext cx="9674352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81328" y="4956048"/>
            <a:ext cx="8915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关键：压缩比 c_t 不是固定超参，而是 policy 每一步一起生成；模型同时决定“做什么”和“上下文压缩到什么程度”。</a:t>
            </a:r>
            <a:endParaRPr lang="en-US" sz="1220" dirty="0"/>
          </a:p>
        </p:txBody>
      </p:sp>
      <p:sp>
        <p:nvSpPr>
          <p:cNvPr id="24" name="Text 21"/>
          <p:cNvSpPr/>
          <p:nvPr/>
        </p:nvSpPr>
        <p:spPr>
          <a:xfrm>
            <a:off x="11201400" y="64190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6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A7A"/>
          </a:solidFill>
          <a:ln w="12700">
            <a:solidFill>
              <a:srgbClr val="007A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64556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C9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Method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310896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ICRL：训练目标是“从依赖上下文到依赖参数”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85216" y="82296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6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rollout 阶段提供 skill guidance，但 inference 全部撤掉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68096" y="1572768"/>
            <a:ext cx="3154680" cy="2359152"/>
          </a:xfrm>
          <a:prstGeom prst="roundRect">
            <a:avLst>
              <a:gd name="adj" fmla="val 3101"/>
            </a:avLst>
          </a:prstGeom>
          <a:solidFill>
            <a:srgbClr val="EAF0FF"/>
          </a:solidFill>
          <a:ln w="10160">
            <a:solidFill>
              <a:srgbClr val="EAF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81051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3867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early training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1024128" y="223113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867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full / high skill exposure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42416" y="3035808"/>
            <a:ext cx="24140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先让模型能学到复杂 multi-step behavior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3950208" y="2743200"/>
            <a:ext cx="420624" cy="0"/>
          </a:xfrm>
          <a:prstGeom prst="line">
            <a:avLst/>
          </a:prstGeom>
          <a:noFill/>
          <a:ln w="17780">
            <a:solidFill>
              <a:srgbClr val="596677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471416" y="1572768"/>
            <a:ext cx="3154680" cy="2359152"/>
          </a:xfrm>
          <a:prstGeom prst="roundRect">
            <a:avLst>
              <a:gd name="adj" fmla="val 3101"/>
            </a:avLst>
          </a:prstGeom>
          <a:solidFill>
            <a:srgbClr val="FFF4D8"/>
          </a:solidFill>
          <a:ln w="10160">
            <a:solidFill>
              <a:srgbClr val="FFF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27448" y="181051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D899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mid training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4727448" y="223113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899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reduced active skill set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45736" y="3035808"/>
            <a:ext cx="24140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policy 开始承担更多决策负担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7653528" y="2743200"/>
            <a:ext cx="420624" cy="0"/>
          </a:xfrm>
          <a:prstGeom prst="line">
            <a:avLst/>
          </a:prstGeom>
          <a:noFill/>
          <a:ln w="17780">
            <a:solidFill>
              <a:srgbClr val="596677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174736" y="1572768"/>
            <a:ext cx="3154680" cy="2359152"/>
          </a:xfrm>
          <a:prstGeom prst="roundRect">
            <a:avLst>
              <a:gd name="adj" fmla="val 3101"/>
            </a:avLst>
          </a:prstGeom>
          <a:solidFill>
            <a:srgbClr val="EAF6EE"/>
          </a:solidFill>
          <a:ln w="10160">
            <a:solidFill>
              <a:srgbClr val="EAF6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30768" y="181051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F7D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late training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8430768" y="223113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F7D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 = empty set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49056" y="3035808"/>
            <a:ext cx="24140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直接优化无 skill 条件下的执行能力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914400" y="4919472"/>
            <a:ext cx="54864" cy="640080"/>
          </a:xfrm>
          <a:prstGeom prst="rect">
            <a:avLst/>
          </a:prstGeom>
          <a:solidFill>
            <a:srgbClr val="007A7A"/>
          </a:solidFill>
          <a:ln w="12700">
            <a:solidFill>
              <a:srgbClr val="007A7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5568" y="4956048"/>
            <a:ext cx="9765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RL 不只是学任务，而是在学迁移：follow external skills → execute from internalized policy。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1201400" y="64190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6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A7A"/>
          </a:solidFill>
          <a:ln w="12700">
            <a:solidFill>
              <a:srgbClr val="007A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64556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C9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Method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310896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Dynamic curriculum：用 helpfulness 决定保留哪些 skill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85216" y="82296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6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 schedule 要么删太快，要么删太慢；SKILL0 做在线评估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2960" y="1499616"/>
            <a:ext cx="4800600" cy="3328416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18288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helpfulness 定义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487168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821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Δ_k = Acc_k^{w/skill} - Acc_k^{w/o skill}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207008" y="324612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 Δ_k &gt; 0，说明当前 policy 仍然能从该 skill 受益，暂时保留；否则剔除。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73952" y="1499616"/>
            <a:ext cx="4553712" cy="3328416"/>
          </a:xfrm>
          <a:prstGeom prst="roundRect">
            <a:avLst>
              <a:gd name="adj" fmla="val 2198"/>
            </a:avLst>
          </a:prstGeom>
          <a:solidFill>
            <a:srgbClr val="FFF4D8"/>
          </a:solidFill>
          <a:ln w="10160">
            <a:solidFill>
              <a:srgbClr val="FFF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03136" y="182880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899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Filter / Rank / Select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67728" y="2542032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5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Filter：只保留 Δ_k &gt; 0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967728" y="3054096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5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Rank：按 helpfulness 降序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967728" y="3566160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5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Select：取 top-M^(s) skill files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69264" y="5513832"/>
            <a:ext cx="54864" cy="502920"/>
          </a:xfrm>
          <a:prstGeom prst="rect">
            <a:avLst/>
          </a:prstGeom>
          <a:solidFill>
            <a:srgbClr val="D89922"/>
          </a:solidFill>
          <a:ln w="12700">
            <a:solidFill>
              <a:srgbClr val="D8992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0432" y="5550408"/>
            <a:ext cx="94914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不是机械删除，而是“当前 policy 仍然需要它时才保留”。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1201400" y="64190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6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A7A"/>
          </a:solidFill>
          <a:ln w="12700">
            <a:solidFill>
              <a:srgbClr val="007A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64556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C9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Method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310896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budget 逐阶段下降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85216" y="82296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6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训练被切成 stages，skill budget 从 N 线性退火到 0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50976" y="144475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821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|S^(s)| ≤ M^(s) = ceil(N · (N_S - s) / (N_S - 1))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51560" y="2514600"/>
            <a:ext cx="2468880" cy="1901952"/>
          </a:xfrm>
          <a:prstGeom prst="roundRect">
            <a:avLst>
              <a:gd name="adj" fmla="val 3846"/>
            </a:avLst>
          </a:prstGeom>
          <a:solidFill>
            <a:srgbClr val="EAF0FF"/>
          </a:solidFill>
          <a:ln w="10160">
            <a:solidFill>
              <a:srgbClr val="EAF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9304" y="279806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3867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1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1289304" y="312724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867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高预算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07592" y="3703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ALFWorld: 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Search-QA: 5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66160" y="3465576"/>
            <a:ext cx="630936" cy="0"/>
          </a:xfrm>
          <a:prstGeom prst="line">
            <a:avLst/>
          </a:prstGeom>
          <a:noFill/>
          <a:ln w="17780">
            <a:solidFill>
              <a:srgbClr val="596677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343400" y="2514600"/>
            <a:ext cx="2468880" cy="1901952"/>
          </a:xfrm>
          <a:prstGeom prst="roundRect">
            <a:avLst>
              <a:gd name="adj" fmla="val 3846"/>
            </a:avLst>
          </a:prstGeom>
          <a:solidFill>
            <a:srgbClr val="FFF4D8"/>
          </a:solidFill>
          <a:ln w="10160">
            <a:solidFill>
              <a:srgbClr val="FFF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81144" y="279806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D899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2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4581144" y="312724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899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中预算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99432" y="3703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ALFWorld: 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Search-QA: 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0" y="3465576"/>
            <a:ext cx="630936" cy="0"/>
          </a:xfrm>
          <a:prstGeom prst="line">
            <a:avLst/>
          </a:prstGeom>
          <a:noFill/>
          <a:ln w="17780">
            <a:solidFill>
              <a:srgbClr val="596677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635240" y="2514600"/>
            <a:ext cx="2468880" cy="1901952"/>
          </a:xfrm>
          <a:prstGeom prst="roundRect">
            <a:avLst>
              <a:gd name="adj" fmla="val 3846"/>
            </a:avLst>
          </a:prstGeom>
          <a:solidFill>
            <a:srgbClr val="EAF6EE"/>
          </a:solidFill>
          <a:ln w="10160">
            <a:solidFill>
              <a:srgbClr val="EAF6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72984" y="279806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F7D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3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7872984" y="312724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F7D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零预算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891272" y="3703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 = ∅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98448" y="5321808"/>
            <a:ext cx="8915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5966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最后一个 stage 必须让 S 为空：这一步把“推理时不带 skill”直接纳入训练条件。</a:t>
            </a:r>
            <a:endParaRPr lang="en-US" sz="1220" dirty="0"/>
          </a:p>
        </p:txBody>
      </p:sp>
      <p:sp>
        <p:nvSpPr>
          <p:cNvPr id="24" name="Text 21"/>
          <p:cNvSpPr/>
          <p:nvPr/>
        </p:nvSpPr>
        <p:spPr>
          <a:xfrm>
            <a:off x="11201400" y="64190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6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A7A"/>
          </a:solidFill>
          <a:ln w="12700">
            <a:solidFill>
              <a:srgbClr val="007A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64556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C9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Method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310896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Reward：任务成功 + 压缩效率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85216" y="82296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6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composite reward 只在任务成功时奖励更高 compression ratio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41248" y="1481328"/>
            <a:ext cx="4937760" cy="340156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181051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Composite reward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25296" y="2487168"/>
            <a:ext cx="3986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r_t^comp = ln(c_t),  if success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r_t^comp = 0,      otherwise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43584" y="371246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457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r̃_t = r_t + λ · r_t^comp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46520" y="1481328"/>
            <a:ext cx="4553712" cy="3401568"/>
          </a:xfrm>
          <a:prstGeom prst="roundRect">
            <a:avLst>
              <a:gd name="adj" fmla="val 2151"/>
            </a:avLst>
          </a:prstGeom>
          <a:solidFill>
            <a:srgbClr val="EAF0FF"/>
          </a:solidFill>
          <a:ln w="10160">
            <a:solidFill>
              <a:srgbClr val="EAF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84848" y="181051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867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它推动两件事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67728" y="2578608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2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task-solving behavior：先做对任务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6967728" y="3072384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2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context efficiency：成功后更省上下文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6967728" y="3566160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2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internalization 仍主要来自 ICRL + curriculum</a:t>
            </a:r>
            <a:endParaRPr lang="en-US" sz="1120" dirty="0"/>
          </a:p>
        </p:txBody>
      </p:sp>
      <p:sp>
        <p:nvSpPr>
          <p:cNvPr id="17" name="Text 14"/>
          <p:cNvSpPr/>
          <p:nvPr/>
        </p:nvSpPr>
        <p:spPr>
          <a:xfrm>
            <a:off x="11201400" y="64190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6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431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313F"/>
          </a:solidFill>
          <a:ln w="12700">
            <a:solidFill>
              <a:srgbClr val="24313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1024128"/>
            <a:ext cx="146304" cy="804672"/>
          </a:xfrm>
          <a:prstGeom prst="rect">
            <a:avLst/>
          </a:prstGeom>
          <a:solidFill>
            <a:srgbClr val="007A7A"/>
          </a:solidFill>
          <a:ln w="12700">
            <a:solidFill>
              <a:srgbClr val="007A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024128"/>
            <a:ext cx="146304" cy="804672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992" y="1024128"/>
            <a:ext cx="146304" cy="804672"/>
          </a:xfrm>
          <a:prstGeom prst="rect">
            <a:avLst/>
          </a:prstGeom>
          <a:solidFill>
            <a:srgbClr val="D89922"/>
          </a:solidFill>
          <a:ln w="12700">
            <a:solidFill>
              <a:srgbClr val="D8992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8448" y="98755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FC1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80160" y="1417320"/>
            <a:ext cx="8961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307592" y="235915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DCE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结果是否支撑“skill 已内化”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241280" y="5102352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500" b="1" dirty="0">
                <a:solidFill>
                  <a:srgbClr val="5B6B7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3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A7A"/>
          </a:solidFill>
          <a:ln w="12700">
            <a:solidFill>
              <a:srgbClr val="007A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64556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C9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Experiments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310896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实验设置：两个 agentic benchmark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85216" y="82296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6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ALFWorld 检验多步行动，Search-QA 检验检索问答与泛化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68096" y="1481328"/>
            <a:ext cx="5102352" cy="3474720"/>
          </a:xfrm>
          <a:prstGeom prst="roundRect">
            <a:avLst>
              <a:gd name="adj" fmla="val 2105"/>
            </a:avLst>
          </a:prstGeom>
          <a:solidFill>
            <a:srgbClr val="E7F5F2"/>
          </a:solidFill>
          <a:ln w="10160">
            <a:solidFill>
              <a:srgbClr val="E7F5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179222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0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ALFWorld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25296" y="2487168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8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3827 个文本环境 household tasks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1225296" y="290779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8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Pick / Look / Clean / Heat / Cool / Pick2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1225296" y="3328416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8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batch 16 tasks，每个 prompt 8 rollouts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1225296" y="3749040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8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max prompt length 3072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6327648" y="1481328"/>
            <a:ext cx="5102352" cy="3474720"/>
          </a:xfrm>
          <a:prstGeom prst="roundRect">
            <a:avLst>
              <a:gd name="adj" fmla="val 2105"/>
            </a:avLst>
          </a:prstGeom>
          <a:solidFill>
            <a:srgbClr val="EAF0FF"/>
          </a:solidFill>
          <a:ln w="10160">
            <a:solidFill>
              <a:srgbClr val="EAF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38544" y="179222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3867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Search-based QA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784848" y="2487168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3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NQ / TriviaQA / PopQA / HotpotQA / 2Wiki / MuSiQue / Bamboogle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6784848" y="2907792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3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训练来自 NQ 与 HotpotQA，其余做 OOD</a:t>
            </a:r>
            <a:endParaRPr lang="en-US" sz="1030" dirty="0"/>
          </a:p>
        </p:txBody>
      </p:sp>
      <p:sp>
        <p:nvSpPr>
          <p:cNvPr id="17" name="Text 15"/>
          <p:cNvSpPr/>
          <p:nvPr/>
        </p:nvSpPr>
        <p:spPr>
          <a:xfrm>
            <a:off x="6784848" y="3328416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3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batch 128 tasks，retriever 使用 E5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6784848" y="374904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3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max prompt length 4096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3493008" y="5504688"/>
            <a:ext cx="338328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02736" y="5580583"/>
            <a:ext cx="3163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Backbone: Qwen2.5-(VL)-3B/7B-Instruct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7150608" y="5504688"/>
            <a:ext cx="265176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60336" y="5580583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180 steps / 4 × H800 / N_S = 3</a:t>
            </a:r>
            <a:endParaRPr lang="en-US" sz="860" dirty="0"/>
          </a:p>
        </p:txBody>
      </p:sp>
      <p:sp>
        <p:nvSpPr>
          <p:cNvPr id="24" name="Text 21"/>
          <p:cNvSpPr/>
          <p:nvPr/>
        </p:nvSpPr>
        <p:spPr>
          <a:xfrm>
            <a:off x="11201400" y="64190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6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A7A"/>
          </a:solidFill>
          <a:ln w="12700">
            <a:solidFill>
              <a:srgbClr val="007A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64556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C9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Results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310896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主结果：不带 inference skill 仍然有竞争力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85216" y="82296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6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Table 1 中，SKILL0 显著优于标准 RL baseline，也能与 skill-augmented 方法竞争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04672" y="1417320"/>
            <a:ext cx="5047488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373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0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ALFWorld success rate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051560" y="2505456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966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AgentOCR 3B</a:t>
            </a:r>
            <a:endParaRPr lang="en-US" sz="840" dirty="0"/>
          </a:p>
        </p:txBody>
      </p:sp>
      <p:sp>
        <p:nvSpPr>
          <p:cNvPr id="10" name="Shape 8"/>
          <p:cNvSpPr/>
          <p:nvPr/>
        </p:nvSpPr>
        <p:spPr>
          <a:xfrm>
            <a:off x="2404872" y="2505456"/>
            <a:ext cx="1929384" cy="201168"/>
          </a:xfrm>
          <a:prstGeom prst="roundRect">
            <a:avLst>
              <a:gd name="adj" fmla="val 18182"/>
            </a:avLst>
          </a:prstGeom>
          <a:solidFill>
            <a:srgbClr val="E7ECF2"/>
          </a:solidFill>
          <a:ln w="12700">
            <a:solidFill>
              <a:srgbClr val="E7ECF2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04872" y="2505456"/>
            <a:ext cx="1508778" cy="201168"/>
          </a:xfrm>
          <a:prstGeom prst="roundRect">
            <a:avLst>
              <a:gd name="adj" fmla="val 18182"/>
            </a:avLst>
          </a:prstGeom>
          <a:solidFill>
            <a:srgbClr val="AAB4C0"/>
          </a:solidFill>
          <a:ln w="12700">
            <a:solidFill>
              <a:srgbClr val="AAB4C0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43984" y="248259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78.2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1051560" y="2968752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966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SKILL0 3B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2404872" y="2968752"/>
            <a:ext cx="1929384" cy="201168"/>
          </a:xfrm>
          <a:prstGeom prst="roundRect">
            <a:avLst>
              <a:gd name="adj" fmla="val 18182"/>
            </a:avLst>
          </a:prstGeom>
          <a:solidFill>
            <a:srgbClr val="E7ECF2"/>
          </a:solidFill>
          <a:ln w="12700">
            <a:solidFill>
              <a:srgbClr val="E7ECF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04872" y="2968752"/>
            <a:ext cx="1695929" cy="201168"/>
          </a:xfrm>
          <a:prstGeom prst="roundRect">
            <a:avLst>
              <a:gd name="adj" fmla="val 18182"/>
            </a:avLst>
          </a:prstGeom>
          <a:solidFill>
            <a:srgbClr val="007A7A"/>
          </a:solidFill>
          <a:ln w="12700">
            <a:solidFill>
              <a:srgbClr val="007A7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43984" y="294589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87.9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1051560" y="343204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966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SKILL0 7B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2404872" y="3432048"/>
            <a:ext cx="1929384" cy="201168"/>
          </a:xfrm>
          <a:prstGeom prst="roundRect">
            <a:avLst>
              <a:gd name="adj" fmla="val 18182"/>
            </a:avLst>
          </a:prstGeom>
          <a:solidFill>
            <a:srgbClr val="E7ECF2"/>
          </a:solidFill>
          <a:ln w="12700">
            <a:solidFill>
              <a:srgbClr val="E7ECF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04872" y="3432048"/>
            <a:ext cx="1732587" cy="201168"/>
          </a:xfrm>
          <a:prstGeom prst="roundRect">
            <a:avLst>
              <a:gd name="adj" fmla="val 18182"/>
            </a:avLst>
          </a:prstGeom>
          <a:solidFill>
            <a:srgbClr val="2F7D4A"/>
          </a:solidFill>
          <a:ln w="12700">
            <a:solidFill>
              <a:srgbClr val="2F7D4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43984" y="340918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89.8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1097280" y="442569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3B 相比 AgentOCR：+9.7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09360" y="1417320"/>
            <a:ext cx="5047488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01968" y="173736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3867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Search-QA accuracy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556248" y="2505456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966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AgentOCR 3B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7909560" y="2505456"/>
            <a:ext cx="1929384" cy="201168"/>
          </a:xfrm>
          <a:prstGeom prst="roundRect">
            <a:avLst>
              <a:gd name="adj" fmla="val 18182"/>
            </a:avLst>
          </a:prstGeom>
          <a:solidFill>
            <a:srgbClr val="E7ECF2"/>
          </a:solidFill>
          <a:ln w="12700">
            <a:solidFill>
              <a:srgbClr val="E7ECF2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09560" y="2505456"/>
            <a:ext cx="1319699" cy="201168"/>
          </a:xfrm>
          <a:prstGeom prst="roundRect">
            <a:avLst>
              <a:gd name="adj" fmla="val 18182"/>
            </a:avLst>
          </a:prstGeom>
          <a:solidFill>
            <a:srgbClr val="AAB4C0"/>
          </a:solidFill>
          <a:ln w="12700">
            <a:solidFill>
              <a:srgbClr val="AAB4C0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48672" y="248259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34.2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6556248" y="2968752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966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SKILL0 3B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7909560" y="2968752"/>
            <a:ext cx="1929384" cy="201168"/>
          </a:xfrm>
          <a:prstGeom prst="roundRect">
            <a:avLst>
              <a:gd name="adj" fmla="val 18182"/>
            </a:avLst>
          </a:prstGeom>
          <a:solidFill>
            <a:srgbClr val="E7ECF2"/>
          </a:solidFill>
          <a:ln w="12700">
            <a:solidFill>
              <a:srgbClr val="E7ECF2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09560" y="2968752"/>
            <a:ext cx="1574377" cy="201168"/>
          </a:xfrm>
          <a:prstGeom prst="roundRect">
            <a:avLst>
              <a:gd name="adj" fmla="val 18182"/>
            </a:avLst>
          </a:prstGeom>
          <a:solidFill>
            <a:srgbClr val="3867D6"/>
          </a:solidFill>
          <a:ln w="12700">
            <a:solidFill>
              <a:srgbClr val="3867D6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48672" y="294589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40.8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6556248" y="343204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966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SKILL0 7B</a:t>
            </a:r>
            <a:endParaRPr lang="en-US" sz="840" dirty="0"/>
          </a:p>
        </p:txBody>
      </p:sp>
      <p:sp>
        <p:nvSpPr>
          <p:cNvPr id="33" name="Shape 31"/>
          <p:cNvSpPr/>
          <p:nvPr/>
        </p:nvSpPr>
        <p:spPr>
          <a:xfrm>
            <a:off x="7909560" y="3432048"/>
            <a:ext cx="1929384" cy="201168"/>
          </a:xfrm>
          <a:prstGeom prst="roundRect">
            <a:avLst>
              <a:gd name="adj" fmla="val 18182"/>
            </a:avLst>
          </a:prstGeom>
          <a:solidFill>
            <a:srgbClr val="E7ECF2"/>
          </a:solidFill>
          <a:ln w="12700">
            <a:solidFill>
              <a:srgbClr val="E7ECF2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909560" y="3432048"/>
            <a:ext cx="1713293" cy="201168"/>
          </a:xfrm>
          <a:prstGeom prst="roundRect">
            <a:avLst>
              <a:gd name="adj" fmla="val 18182"/>
            </a:avLst>
          </a:prstGeom>
          <a:solidFill>
            <a:srgbClr val="2F7D4A"/>
          </a:solidFill>
          <a:ln w="12700">
            <a:solidFill>
              <a:srgbClr val="2F7D4A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948672" y="340918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44.4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6601968" y="442569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867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3B 相比 AgentOCR：+6.6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005840" y="5715000"/>
            <a:ext cx="54864" cy="438912"/>
          </a:xfrm>
          <a:prstGeom prst="rect">
            <a:avLst/>
          </a:prstGeom>
          <a:solidFill>
            <a:srgbClr val="007A7A"/>
          </a:solidFill>
          <a:ln w="12700">
            <a:solidFill>
              <a:srgbClr val="007A7A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751576"/>
            <a:ext cx="9765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关键不是分数最高，而是在不依赖 inference-time skill prompting 的条件下达到这些分数。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11201400" y="64190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6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A7A"/>
          </a:solidFill>
          <a:ln w="12700">
            <a:solidFill>
              <a:srgbClr val="007A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64556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C9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Results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310896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efficiency：上下文成本低约 5 倍以上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85216" y="82296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6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3B setting 下，每 step 平均 context 成本显著低于 SkillRL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14400" y="1389888"/>
            <a:ext cx="10012680" cy="4261104"/>
          </a:xfrm>
          <a:prstGeom prst="roundRect">
            <a:avLst>
              <a:gd name="adj" fmla="val 1717"/>
            </a:avLst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61872" y="170078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Tokens / step (k)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16736" y="252374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966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SkillRL ALFWorld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82696" y="2523744"/>
            <a:ext cx="5056632" cy="201168"/>
          </a:xfrm>
          <a:prstGeom prst="roundRect">
            <a:avLst>
              <a:gd name="adj" fmla="val 18182"/>
            </a:avLst>
          </a:prstGeom>
          <a:solidFill>
            <a:srgbClr val="E7ECF2"/>
          </a:solidFill>
          <a:ln w="12700">
            <a:solidFill>
              <a:srgbClr val="E7ECF2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82696" y="2523744"/>
            <a:ext cx="4656315" cy="201168"/>
          </a:xfrm>
          <a:prstGeom prst="roundRect">
            <a:avLst>
              <a:gd name="adj" fmla="val 18182"/>
            </a:avLst>
          </a:prstGeom>
          <a:solidFill>
            <a:srgbClr val="AAB4C0"/>
          </a:solidFill>
          <a:ln w="12700">
            <a:solidFill>
              <a:srgbClr val="AAB4C0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49056" y="250088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2.21k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1316736" y="303809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966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SKILL0 ALFWorld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82696" y="3038094"/>
            <a:ext cx="5056632" cy="201168"/>
          </a:xfrm>
          <a:prstGeom prst="roundRect">
            <a:avLst>
              <a:gd name="adj" fmla="val 18182"/>
            </a:avLst>
          </a:prstGeom>
          <a:solidFill>
            <a:srgbClr val="E7ECF2"/>
          </a:solidFill>
          <a:ln w="12700">
            <a:solidFill>
              <a:srgbClr val="E7ECF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82696" y="3038094"/>
            <a:ext cx="800633" cy="201168"/>
          </a:xfrm>
          <a:prstGeom prst="roundRect">
            <a:avLst>
              <a:gd name="adj" fmla="val 18182"/>
            </a:avLst>
          </a:prstGeom>
          <a:solidFill>
            <a:srgbClr val="007A7A"/>
          </a:solidFill>
          <a:ln w="12700">
            <a:solidFill>
              <a:srgbClr val="007A7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49056" y="301523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0.38k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1316736" y="355244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966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SkillRL Search-QA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82696" y="3552444"/>
            <a:ext cx="5056632" cy="201168"/>
          </a:xfrm>
          <a:prstGeom prst="roundRect">
            <a:avLst>
              <a:gd name="adj" fmla="val 18182"/>
            </a:avLst>
          </a:prstGeom>
          <a:solidFill>
            <a:srgbClr val="E7ECF2"/>
          </a:solidFill>
          <a:ln w="12700">
            <a:solidFill>
              <a:srgbClr val="E7ECF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82696" y="3552444"/>
            <a:ext cx="1833029" cy="201168"/>
          </a:xfrm>
          <a:prstGeom prst="roundRect">
            <a:avLst>
              <a:gd name="adj" fmla="val 18182"/>
            </a:avLst>
          </a:prstGeom>
          <a:solidFill>
            <a:srgbClr val="AAB4C0"/>
          </a:solidFill>
          <a:ln w="12700">
            <a:solidFill>
              <a:srgbClr val="AAB4C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49056" y="352958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0.87k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1316736" y="406679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966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SKILL0 Search-QA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82696" y="4066794"/>
            <a:ext cx="5056632" cy="201168"/>
          </a:xfrm>
          <a:prstGeom prst="roundRect">
            <a:avLst>
              <a:gd name="adj" fmla="val 18182"/>
            </a:avLst>
          </a:prstGeom>
          <a:solidFill>
            <a:srgbClr val="E7ECF2"/>
          </a:solidFill>
          <a:ln w="12700">
            <a:solidFill>
              <a:srgbClr val="E7ECF2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82696" y="4066794"/>
            <a:ext cx="379247" cy="201168"/>
          </a:xfrm>
          <a:prstGeom prst="roundRect">
            <a:avLst>
              <a:gd name="adj" fmla="val 18182"/>
            </a:avLst>
          </a:prstGeom>
          <a:solidFill>
            <a:srgbClr val="3867D6"/>
          </a:solidFill>
          <a:ln w="12700">
            <a:solidFill>
              <a:srgbClr val="3867D6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49056" y="404393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0.18k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9710928" y="2286000"/>
            <a:ext cx="1024128" cy="1097280"/>
          </a:xfrm>
          <a:prstGeom prst="roundRect">
            <a:avLst>
              <a:gd name="adj" fmla="val 7143"/>
            </a:avLst>
          </a:prstGeom>
          <a:solidFill>
            <a:srgbClr val="E7F5F2"/>
          </a:solidFill>
          <a:ln w="10160">
            <a:solidFill>
              <a:srgbClr val="E7F5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11512" y="2514600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≈5x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765792" y="299923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00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更低上下文开销</a:t>
            </a:r>
            <a:endParaRPr lang="en-US" sz="760" dirty="0"/>
          </a:p>
        </p:txBody>
      </p:sp>
      <p:sp>
        <p:nvSpPr>
          <p:cNvPr id="28" name="Shape 26"/>
          <p:cNvSpPr/>
          <p:nvPr/>
        </p:nvSpPr>
        <p:spPr>
          <a:xfrm>
            <a:off x="987552" y="5943600"/>
            <a:ext cx="54864" cy="384048"/>
          </a:xfrm>
          <a:prstGeom prst="rect">
            <a:avLst/>
          </a:prstGeom>
          <a:solidFill>
            <a:srgbClr val="3867D6"/>
          </a:solidFill>
          <a:ln w="12700">
            <a:solidFill>
              <a:srgbClr val="3867D6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88720" y="5980176"/>
            <a:ext cx="9582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对训练团队的含义：如果经验/skill 不能内化，规模越大越容易被上下文预算卡住。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1201400" y="64190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6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A7A"/>
          </a:solidFill>
          <a:ln w="12700">
            <a:solidFill>
              <a:srgbClr val="007A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64556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C9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Results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310896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Training dynamics：早期借助 skill，后期无 skill 追上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85216" y="82296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6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论文趋势显示 skill knowledge 正在从 context 转移到参数中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548640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07008" y="171907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验证曲线的读法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1353312" y="4553712"/>
            <a:ext cx="4206240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53312" y="2468880"/>
            <a:ext cx="0" cy="2084832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36192" y="3547872"/>
            <a:ext cx="868680" cy="-594360"/>
          </a:xfrm>
          <a:prstGeom prst="line">
            <a:avLst/>
          </a:prstGeom>
          <a:noFill/>
          <a:ln w="27940">
            <a:solidFill>
              <a:srgbClr val="007A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04872" y="2953512"/>
            <a:ext cx="1097280" cy="-182880"/>
          </a:xfrm>
          <a:prstGeom prst="line">
            <a:avLst/>
          </a:prstGeom>
          <a:noFill/>
          <a:ln w="27940">
            <a:solidFill>
              <a:srgbClr val="007A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02152" y="2770632"/>
            <a:ext cx="1188720" cy="-118872"/>
          </a:xfrm>
          <a:prstGeom prst="line">
            <a:avLst/>
          </a:prstGeom>
          <a:noFill/>
          <a:ln w="27940">
            <a:solidFill>
              <a:srgbClr val="007A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90872" y="2651760"/>
            <a:ext cx="685800" cy="-91440"/>
          </a:xfrm>
          <a:prstGeom prst="line">
            <a:avLst/>
          </a:prstGeom>
          <a:noFill/>
          <a:ln w="27940">
            <a:solidFill>
              <a:srgbClr val="007A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95044" y="3506724"/>
            <a:ext cx="82296" cy="82296"/>
          </a:xfrm>
          <a:prstGeom prst="ellipse">
            <a:avLst/>
          </a:prstGeom>
          <a:solidFill>
            <a:srgbClr val="007A7A"/>
          </a:solidFill>
          <a:ln w="12700">
            <a:solidFill>
              <a:srgbClr val="007A7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63724" y="2912364"/>
            <a:ext cx="82296" cy="82296"/>
          </a:xfrm>
          <a:prstGeom prst="ellipse">
            <a:avLst/>
          </a:prstGeom>
          <a:solidFill>
            <a:srgbClr val="007A7A"/>
          </a:solidFill>
          <a:ln w="12700">
            <a:solidFill>
              <a:srgbClr val="007A7A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61004" y="2729484"/>
            <a:ext cx="82296" cy="82296"/>
          </a:xfrm>
          <a:prstGeom prst="ellipse">
            <a:avLst/>
          </a:prstGeom>
          <a:solidFill>
            <a:srgbClr val="007A7A"/>
          </a:solidFill>
          <a:ln w="12700">
            <a:solidFill>
              <a:srgbClr val="007A7A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49724" y="2610612"/>
            <a:ext cx="82296" cy="82296"/>
          </a:xfrm>
          <a:prstGeom prst="ellipse">
            <a:avLst/>
          </a:prstGeom>
          <a:solidFill>
            <a:srgbClr val="007A7A"/>
          </a:solidFill>
          <a:ln w="12700">
            <a:solidFill>
              <a:srgbClr val="007A7A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35524" y="2519172"/>
            <a:ext cx="82296" cy="82296"/>
          </a:xfrm>
          <a:prstGeom prst="ellipse">
            <a:avLst/>
          </a:prstGeom>
          <a:solidFill>
            <a:srgbClr val="007A7A"/>
          </a:solidFill>
          <a:ln w="12700">
            <a:solidFill>
              <a:srgbClr val="007A7A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36192" y="4242816"/>
            <a:ext cx="868680" cy="-347472"/>
          </a:xfrm>
          <a:prstGeom prst="line">
            <a:avLst/>
          </a:prstGeom>
          <a:noFill/>
          <a:ln w="27940">
            <a:solidFill>
              <a:srgbClr val="E4572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04872" y="3895344"/>
            <a:ext cx="1097280" cy="-420624"/>
          </a:xfrm>
          <a:prstGeom prst="line">
            <a:avLst/>
          </a:prstGeom>
          <a:noFill/>
          <a:ln w="27940">
            <a:solidFill>
              <a:srgbClr val="E457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02152" y="3474720"/>
            <a:ext cx="1188720" cy="-493776"/>
          </a:xfrm>
          <a:prstGeom prst="line">
            <a:avLst/>
          </a:prstGeom>
          <a:noFill/>
          <a:ln w="27940">
            <a:solidFill>
              <a:srgbClr val="E4572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90872" y="2980944"/>
            <a:ext cx="521208" cy="-164592"/>
          </a:xfrm>
          <a:prstGeom prst="line">
            <a:avLst/>
          </a:prstGeom>
          <a:noFill/>
          <a:ln w="27940">
            <a:solidFill>
              <a:srgbClr val="E457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95044" y="4201668"/>
            <a:ext cx="82296" cy="82296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63724" y="3854196"/>
            <a:ext cx="82296" cy="82296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61004" y="3433572"/>
            <a:ext cx="82296" cy="82296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49724" y="2939796"/>
            <a:ext cx="82296" cy="82296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70932" y="2775204"/>
            <a:ext cx="82296" cy="82296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98848" y="288950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0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with skill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4517136" y="33101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E45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w/o skill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4535424" y="464515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966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training step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1307592" y="224028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966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success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812280" y="1389888"/>
            <a:ext cx="4389120" cy="3977640"/>
          </a:xfrm>
          <a:prstGeom prst="roundRect">
            <a:avLst>
              <a:gd name="adj" fmla="val 1839"/>
            </a:avLst>
          </a:prstGeom>
          <a:solidFill>
            <a:srgbClr val="FFF4D8"/>
          </a:solidFill>
          <a:ln w="10160">
            <a:solidFill>
              <a:srgbClr val="FFF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50608" y="171907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D899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三点观察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7333488" y="248716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8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with skill：早期收敛更快</a:t>
            </a:r>
            <a:endParaRPr lang="en-US" sz="1080" dirty="0"/>
          </a:p>
        </p:txBody>
      </p:sp>
      <p:sp>
        <p:nvSpPr>
          <p:cNvPr id="36" name="Text 34"/>
          <p:cNvSpPr/>
          <p:nvPr/>
        </p:nvSpPr>
        <p:spPr>
          <a:xfrm>
            <a:off x="7333488" y="2999232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8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without skill：早期较弱，后期逐渐追上</a:t>
            </a:r>
            <a:endParaRPr lang="en-US" sz="1080" dirty="0"/>
          </a:p>
        </p:txBody>
      </p:sp>
      <p:sp>
        <p:nvSpPr>
          <p:cNvPr id="37" name="Text 35"/>
          <p:cNvSpPr/>
          <p:nvPr/>
        </p:nvSpPr>
        <p:spPr>
          <a:xfrm>
            <a:off x="7333488" y="3511296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8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SKILL0 未早早 plateau，后期仍持续提升</a:t>
            </a:r>
            <a:endParaRPr lang="en-US" sz="1080" dirty="0"/>
          </a:p>
        </p:txBody>
      </p:sp>
      <p:sp>
        <p:nvSpPr>
          <p:cNvPr id="38" name="Text 36"/>
          <p:cNvSpPr/>
          <p:nvPr/>
        </p:nvSpPr>
        <p:spPr>
          <a:xfrm>
            <a:off x="1371600" y="49560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966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schematic summary of paper-reported trend</a:t>
            </a:r>
            <a:endParaRPr lang="en-US" sz="780" dirty="0"/>
          </a:p>
        </p:txBody>
      </p:sp>
      <p:sp>
        <p:nvSpPr>
          <p:cNvPr id="40" name="Text 37"/>
          <p:cNvSpPr/>
          <p:nvPr/>
        </p:nvSpPr>
        <p:spPr>
          <a:xfrm>
            <a:off x="11201400" y="64190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6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A7A"/>
          </a:solidFill>
          <a:ln w="12700">
            <a:solidFill>
              <a:srgbClr val="007A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64556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C9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Ablation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310896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Ablation 1：固定 skill budget 会出问题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85216" y="82296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6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渐进式 budget 退火效果最好，full skill set 反而导致撤掉后崩塌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77824" y="1481328"/>
            <a:ext cx="4709160" cy="3566160"/>
          </a:xfrm>
          <a:prstGeom prst="roundRect">
            <a:avLst>
              <a:gd name="adj" fmla="val 2051"/>
            </a:avLst>
          </a:prstGeom>
          <a:solidFill>
            <a:srgbClr val="FDECE6"/>
          </a:solidFill>
          <a:ln w="10160">
            <a:solidFill>
              <a:srgbClr val="FDEC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07008" y="18288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 full skill set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1872" y="2523744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早期 guidance 强，但 policy 容易长期依赖外部 skill。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1261872" y="385876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45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去掉 skill 后：-12.3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510528" y="1481328"/>
            <a:ext cx="4709160" cy="3566160"/>
          </a:xfrm>
          <a:prstGeom prst="roundRect">
            <a:avLst>
              <a:gd name="adj" fmla="val 2051"/>
            </a:avLst>
          </a:prstGeom>
          <a:solidFill>
            <a:srgbClr val="EAF6EE"/>
          </a:solidFill>
          <a:ln w="10160">
            <a:solidFill>
              <a:srgbClr val="EAF6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39712" y="182880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F7D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渐进式 budget 退火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94576" y="2523744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先利用 skill 降低探索难度，再逐步把负担交回 policy。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6894576" y="385876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F7D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 skill 反而高：+1.6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11201400" y="64190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6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A7A"/>
          </a:solidFill>
          <a:ln w="12700">
            <a:solidFill>
              <a:srgbClr val="007A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64556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C9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Ablation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310896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Ablation 2：Filter / Rank / Select 缺一不可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85216" y="82296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6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 skill 越多越好，关键是保留真正 helpful 的 skill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68680" y="1371600"/>
            <a:ext cx="56692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170078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ALFWorld w/o skill performance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207008" y="259689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966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Complete</a:t>
            </a:r>
            <a:endParaRPr lang="en-US" sz="840" dirty="0"/>
          </a:p>
        </p:txBody>
      </p:sp>
      <p:sp>
        <p:nvSpPr>
          <p:cNvPr id="10" name="Shape 8"/>
          <p:cNvSpPr/>
          <p:nvPr/>
        </p:nvSpPr>
        <p:spPr>
          <a:xfrm>
            <a:off x="2441448" y="2596896"/>
            <a:ext cx="2368296" cy="201168"/>
          </a:xfrm>
          <a:prstGeom prst="roundRect">
            <a:avLst>
              <a:gd name="adj" fmla="val 18182"/>
            </a:avLst>
          </a:prstGeom>
          <a:solidFill>
            <a:srgbClr val="E7ECF2"/>
          </a:solidFill>
          <a:ln w="12700">
            <a:solidFill>
              <a:srgbClr val="E7ECF2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41448" y="2596896"/>
            <a:ext cx="2081732" cy="201168"/>
          </a:xfrm>
          <a:prstGeom prst="roundRect">
            <a:avLst>
              <a:gd name="adj" fmla="val 18182"/>
            </a:avLst>
          </a:prstGeom>
          <a:solidFill>
            <a:srgbClr val="007A7A"/>
          </a:solidFill>
          <a:ln w="12700">
            <a:solidFill>
              <a:srgbClr val="007A7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257403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87.9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1207008" y="306933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966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w/o Filter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2441448" y="3069336"/>
            <a:ext cx="2368296" cy="201168"/>
          </a:xfrm>
          <a:prstGeom prst="roundRect">
            <a:avLst>
              <a:gd name="adj" fmla="val 18182"/>
            </a:avLst>
          </a:prstGeom>
          <a:solidFill>
            <a:srgbClr val="E7ECF2"/>
          </a:solidFill>
          <a:ln w="12700">
            <a:solidFill>
              <a:srgbClr val="E7ECF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41448" y="3069336"/>
            <a:ext cx="1868586" cy="201168"/>
          </a:xfrm>
          <a:prstGeom prst="roundRect">
            <a:avLst>
              <a:gd name="adj" fmla="val 18182"/>
            </a:avLst>
          </a:prstGeom>
          <a:solidFill>
            <a:srgbClr val="D89922"/>
          </a:solidFill>
          <a:ln w="12700">
            <a:solidFill>
              <a:srgbClr val="D8992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304647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78.9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1207008" y="354177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966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w/o Rank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2441448" y="3541776"/>
            <a:ext cx="2368296" cy="201168"/>
          </a:xfrm>
          <a:prstGeom prst="roundRect">
            <a:avLst>
              <a:gd name="adj" fmla="val 18182"/>
            </a:avLst>
          </a:prstGeom>
          <a:solidFill>
            <a:srgbClr val="E7ECF2"/>
          </a:solidFill>
          <a:ln w="12700">
            <a:solidFill>
              <a:srgbClr val="E7ECF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41448" y="3541776"/>
            <a:ext cx="1489658" cy="201168"/>
          </a:xfrm>
          <a:prstGeom prst="roundRect">
            <a:avLst>
              <a:gd name="adj" fmla="val 18182"/>
            </a:avLst>
          </a:prstGeom>
          <a:solidFill>
            <a:srgbClr val="E4572E"/>
          </a:solidFill>
          <a:ln w="12700">
            <a:solidFill>
              <a:srgbClr val="E4572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351891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62.9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6931152" y="1371600"/>
            <a:ext cx="4069080" cy="4206240"/>
          </a:xfrm>
          <a:prstGeom prst="roundRect">
            <a:avLst>
              <a:gd name="adj" fmla="val 1798"/>
            </a:avLst>
          </a:prstGeom>
          <a:solidFill>
            <a:srgbClr val="EAF0FF"/>
          </a:solidFill>
          <a:ln w="10160">
            <a:solidFill>
              <a:srgbClr val="EAF0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60336" y="171907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3867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Rank 很重要？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296912" y="24688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有些 skill 虽然仍有正收益，但收益很小；预算下降时，如果不排序，可能把真正关键的 skill 挤掉。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7296912" y="4041648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867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结论：curriculum 的价值在于“随 policy 改变而选择”。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1201400" y="64190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6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431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313F"/>
          </a:solidFill>
          <a:ln w="12700">
            <a:solidFill>
              <a:srgbClr val="24313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1024128"/>
            <a:ext cx="146304" cy="804672"/>
          </a:xfrm>
          <a:prstGeom prst="rect">
            <a:avLst/>
          </a:prstGeom>
          <a:solidFill>
            <a:srgbClr val="007A7A"/>
          </a:solidFill>
          <a:ln w="12700">
            <a:solidFill>
              <a:srgbClr val="007A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024128"/>
            <a:ext cx="146304" cy="804672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992" y="1024128"/>
            <a:ext cx="146304" cy="804672"/>
          </a:xfrm>
          <a:prstGeom prst="rect">
            <a:avLst/>
          </a:prstGeom>
          <a:solidFill>
            <a:srgbClr val="D89922"/>
          </a:solidFill>
          <a:ln w="12700">
            <a:solidFill>
              <a:srgbClr val="D8992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8448" y="98755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FC1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80160" y="1417320"/>
            <a:ext cx="8961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Related Work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307592" y="235915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DCE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AgentEvolver / MemSkill / SkillRL 放进同一张图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241280" y="5102352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500" b="1" dirty="0">
                <a:solidFill>
                  <a:srgbClr val="5B6B7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</a:t>
            </a:r>
            <a:endParaRPr lang="en-US" sz="3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A7A"/>
          </a:solidFill>
          <a:ln w="12700">
            <a:solidFill>
              <a:srgbClr val="007A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64556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C9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Related work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310896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AgentEvolver self-navigating vs SKILL0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85216" y="82296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6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两者都用外部经验，但一个解决探索，一个追求内化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49808" y="1371600"/>
            <a:ext cx="5166360" cy="4114800"/>
          </a:xfrm>
          <a:prstGeom prst="roundRect">
            <a:avLst>
              <a:gd name="adj" fmla="val 1778"/>
            </a:avLst>
          </a:prstGeom>
          <a:solidFill>
            <a:srgbClr val="FFF4D8"/>
          </a:solidFill>
          <a:ln w="10160">
            <a:solidFill>
              <a:srgbClr val="FFF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3736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D899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AgentEvolver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61872" y="2505456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2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experience 是 rollout-time navigation signal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1261872" y="2898648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2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离线从成功/失败轨迹构造 experience pool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1261872" y="3291840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2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在线检索 top-k experience 注入 prompt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1261872" y="3685032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2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experience stripping 避免训练时记住提示词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1261872" y="407822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2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selective boosting 提升正优势样本权重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6309360" y="1371600"/>
            <a:ext cx="5166360" cy="4114800"/>
          </a:xfrm>
          <a:prstGeom prst="roundRect">
            <a:avLst>
              <a:gd name="adj" fmla="val 1778"/>
            </a:avLst>
          </a:prstGeom>
          <a:solidFill>
            <a:srgbClr val="E7F5F2"/>
          </a:solidFill>
          <a:ln w="10160">
            <a:solidFill>
              <a:srgbClr val="E7F5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56832" y="173736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0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SKILL0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821424" y="2505456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2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是 training-time scaffold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6821424" y="2898648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2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核心目标是把 skill 内化进 policy 参数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6821424" y="3291840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2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 curriculum 逐步减少 skill 暴露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6821424" y="3685032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2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终点是 zero-skill inference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6821424" y="407822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2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不强调继续扩充 skill bank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1078992" y="5806440"/>
            <a:ext cx="9829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一句话：AgentEvolver 给 agent 一张导航地图；SKILL0 先看说明书学，最后不带说明书也会做。</a:t>
            </a:r>
            <a:endParaRPr lang="en-US" sz="1220" dirty="0"/>
          </a:p>
        </p:txBody>
      </p:sp>
      <p:sp>
        <p:nvSpPr>
          <p:cNvPr id="23" name="Text 20"/>
          <p:cNvSpPr/>
          <p:nvPr/>
        </p:nvSpPr>
        <p:spPr>
          <a:xfrm>
            <a:off x="11201400" y="64190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6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A7A"/>
          </a:solidFill>
          <a:ln w="12700">
            <a:solidFill>
              <a:srgbClr val="007A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64556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C9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Related work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310896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MemSkill / SkillRL / SKILL0：分别学进了什么？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85216" y="82296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6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三篇都和 skill 有关，但 skill 的对象不同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298448"/>
            <a:ext cx="1847088" cy="502920"/>
          </a:xfrm>
          <a:prstGeom prst="roundRect">
            <a:avLst>
              <a:gd name="adj" fmla="val 14545"/>
            </a:avLst>
          </a:prstGeom>
          <a:solidFill>
            <a:srgbClr val="24313F"/>
          </a:solidFill>
          <a:ln w="10160">
            <a:solidFill>
              <a:srgbClr val="2431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46304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14016" y="1298448"/>
            <a:ext cx="2816352" cy="502920"/>
          </a:xfrm>
          <a:prstGeom prst="roundRect">
            <a:avLst>
              <a:gd name="adj" fmla="val 14545"/>
            </a:avLst>
          </a:prstGeom>
          <a:solidFill>
            <a:srgbClr val="007A7A"/>
          </a:solidFill>
          <a:ln w="10160">
            <a:solidFill>
              <a:srgbClr val="007A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87168" y="1463040"/>
            <a:ext cx="2670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MemSkill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294376" y="1298448"/>
            <a:ext cx="2816352" cy="502920"/>
          </a:xfrm>
          <a:prstGeom prst="roundRect">
            <a:avLst>
              <a:gd name="adj" fmla="val 14545"/>
            </a:avLst>
          </a:prstGeom>
          <a:solidFill>
            <a:srgbClr val="007A7A"/>
          </a:solidFill>
          <a:ln w="10160">
            <a:solidFill>
              <a:srgbClr val="007A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67528" y="1463040"/>
            <a:ext cx="2670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SkillRL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74736" y="1298448"/>
            <a:ext cx="2816352" cy="502920"/>
          </a:xfrm>
          <a:prstGeom prst="roundRect">
            <a:avLst>
              <a:gd name="adj" fmla="val 14545"/>
            </a:avLst>
          </a:prstGeom>
          <a:solidFill>
            <a:srgbClr val="007A7A"/>
          </a:solidFill>
          <a:ln w="10160">
            <a:solidFill>
              <a:srgbClr val="007A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7888" y="1463040"/>
            <a:ext cx="2670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SKILL0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1874520"/>
            <a:ext cx="184708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E5EB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" y="201168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5966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解决问题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2414016" y="1874520"/>
            <a:ext cx="2816352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E5EB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87168" y="2011680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如何构造/维护 memory</a:t>
            </a:r>
            <a:endParaRPr lang="en-US" sz="810" dirty="0"/>
          </a:p>
        </p:txBody>
      </p:sp>
      <p:sp>
        <p:nvSpPr>
          <p:cNvPr id="19" name="Shape 17"/>
          <p:cNvSpPr/>
          <p:nvPr/>
        </p:nvSpPr>
        <p:spPr>
          <a:xfrm>
            <a:off x="5294376" y="1874520"/>
            <a:ext cx="2816352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E5EB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67528" y="2011680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如何把轨迹蒸馏成 reusable skills</a:t>
            </a:r>
            <a:endParaRPr lang="en-US" sz="810" dirty="0"/>
          </a:p>
        </p:txBody>
      </p:sp>
      <p:sp>
        <p:nvSpPr>
          <p:cNvPr id="21" name="Shape 19"/>
          <p:cNvSpPr/>
          <p:nvPr/>
        </p:nvSpPr>
        <p:spPr>
          <a:xfrm>
            <a:off x="8174736" y="1874520"/>
            <a:ext cx="2816352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E5EB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47888" y="2011680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如何把 skills 内化到参数</a:t>
            </a:r>
            <a:endParaRPr lang="en-US" sz="810" dirty="0"/>
          </a:p>
        </p:txBody>
      </p:sp>
      <p:sp>
        <p:nvSpPr>
          <p:cNvPr id="23" name="Shape 21"/>
          <p:cNvSpPr/>
          <p:nvPr/>
        </p:nvSpPr>
        <p:spPr>
          <a:xfrm>
            <a:off x="502920" y="2587752"/>
            <a:ext cx="1847088" cy="621792"/>
          </a:xfrm>
          <a:prstGeom prst="roundRect">
            <a:avLst>
              <a:gd name="adj" fmla="val 11765"/>
            </a:avLst>
          </a:prstGeom>
          <a:solidFill>
            <a:srgbClr val="F5F7FA"/>
          </a:solidFill>
          <a:ln w="10160">
            <a:solidFill>
              <a:srgbClr val="E5EB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" y="2724912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5966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对象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2414016" y="2587752"/>
            <a:ext cx="2816352" cy="621792"/>
          </a:xfrm>
          <a:prstGeom prst="roundRect">
            <a:avLst>
              <a:gd name="adj" fmla="val 11765"/>
            </a:avLst>
          </a:prstGeom>
          <a:solidFill>
            <a:srgbClr val="F5F7FA"/>
          </a:solidFill>
          <a:ln w="10160">
            <a:solidFill>
              <a:srgbClr val="E5EB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87168" y="2724912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 operation</a:t>
            </a:r>
            <a:endParaRPr lang="en-US" sz="810" dirty="0"/>
          </a:p>
        </p:txBody>
      </p:sp>
      <p:sp>
        <p:nvSpPr>
          <p:cNvPr id="27" name="Shape 25"/>
          <p:cNvSpPr/>
          <p:nvPr/>
        </p:nvSpPr>
        <p:spPr>
          <a:xfrm>
            <a:off x="5294376" y="2587752"/>
            <a:ext cx="2816352" cy="621792"/>
          </a:xfrm>
          <a:prstGeom prst="roundRect">
            <a:avLst>
              <a:gd name="adj" fmla="val 11765"/>
            </a:avLst>
          </a:prstGeom>
          <a:solidFill>
            <a:srgbClr val="F5F7FA"/>
          </a:solidFill>
          <a:ln w="10160">
            <a:solidFill>
              <a:srgbClr val="E5EB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67528" y="2724912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task-solving strategy</a:t>
            </a:r>
            <a:endParaRPr lang="en-US" sz="810" dirty="0"/>
          </a:p>
        </p:txBody>
      </p:sp>
      <p:sp>
        <p:nvSpPr>
          <p:cNvPr id="29" name="Shape 27"/>
          <p:cNvSpPr/>
          <p:nvPr/>
        </p:nvSpPr>
        <p:spPr>
          <a:xfrm>
            <a:off x="8174736" y="2587752"/>
            <a:ext cx="2816352" cy="621792"/>
          </a:xfrm>
          <a:prstGeom prst="roundRect">
            <a:avLst>
              <a:gd name="adj" fmla="val 11765"/>
            </a:avLst>
          </a:prstGeom>
          <a:solidFill>
            <a:srgbClr val="F5F7FA"/>
          </a:solidFill>
          <a:ln w="10160">
            <a:solidFill>
              <a:srgbClr val="E5EB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47888" y="2724912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task-solving strategy</a:t>
            </a:r>
            <a:endParaRPr lang="en-US" sz="810" dirty="0"/>
          </a:p>
        </p:txBody>
      </p:sp>
      <p:sp>
        <p:nvSpPr>
          <p:cNvPr id="31" name="Shape 29"/>
          <p:cNvSpPr/>
          <p:nvPr/>
        </p:nvSpPr>
        <p:spPr>
          <a:xfrm>
            <a:off x="502920" y="3300984"/>
            <a:ext cx="184708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E5EB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6072" y="3438144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5966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bank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2414016" y="3300984"/>
            <a:ext cx="2816352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E5EB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87168" y="3438144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持续演化</a:t>
            </a:r>
            <a:endParaRPr lang="en-US" sz="810" dirty="0"/>
          </a:p>
        </p:txBody>
      </p:sp>
      <p:sp>
        <p:nvSpPr>
          <p:cNvPr id="35" name="Shape 33"/>
          <p:cNvSpPr/>
          <p:nvPr/>
        </p:nvSpPr>
        <p:spPr>
          <a:xfrm>
            <a:off x="5294376" y="3300984"/>
            <a:ext cx="2816352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E5EB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67528" y="3438144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持续演化</a:t>
            </a:r>
            <a:endParaRPr lang="en-US" sz="810" dirty="0"/>
          </a:p>
        </p:txBody>
      </p:sp>
      <p:sp>
        <p:nvSpPr>
          <p:cNvPr id="37" name="Shape 35"/>
          <p:cNvSpPr/>
          <p:nvPr/>
        </p:nvSpPr>
        <p:spPr>
          <a:xfrm>
            <a:off x="8174736" y="3300984"/>
            <a:ext cx="2816352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E5EB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47888" y="3438144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动态筛减，不强调扩充</a:t>
            </a:r>
            <a:endParaRPr lang="en-US" sz="810" dirty="0"/>
          </a:p>
        </p:txBody>
      </p:sp>
      <p:sp>
        <p:nvSpPr>
          <p:cNvPr id="39" name="Shape 37"/>
          <p:cNvSpPr/>
          <p:nvPr/>
        </p:nvSpPr>
        <p:spPr>
          <a:xfrm>
            <a:off x="502920" y="4014216"/>
            <a:ext cx="1847088" cy="621792"/>
          </a:xfrm>
          <a:prstGeom prst="roundRect">
            <a:avLst>
              <a:gd name="adj" fmla="val 11765"/>
            </a:avLst>
          </a:prstGeom>
          <a:solidFill>
            <a:srgbClr val="F5F7FA"/>
          </a:solidFill>
          <a:ln w="10160">
            <a:solidFill>
              <a:srgbClr val="E5EBF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6072" y="4151376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5966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推理依赖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2414016" y="4014216"/>
            <a:ext cx="2816352" cy="621792"/>
          </a:xfrm>
          <a:prstGeom prst="roundRect">
            <a:avLst>
              <a:gd name="adj" fmla="val 11765"/>
            </a:avLst>
          </a:prstGeom>
          <a:solidFill>
            <a:srgbClr val="F5F7FA"/>
          </a:solidFill>
          <a:ln w="10160">
            <a:solidFill>
              <a:srgbClr val="E5EBF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87168" y="4151376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 skill bank</a:t>
            </a:r>
            <a:endParaRPr lang="en-US" sz="810" dirty="0"/>
          </a:p>
        </p:txBody>
      </p:sp>
      <p:sp>
        <p:nvSpPr>
          <p:cNvPr id="43" name="Shape 41"/>
          <p:cNvSpPr/>
          <p:nvPr/>
        </p:nvSpPr>
        <p:spPr>
          <a:xfrm>
            <a:off x="5294376" y="4014216"/>
            <a:ext cx="2816352" cy="621792"/>
          </a:xfrm>
          <a:prstGeom prst="roundRect">
            <a:avLst>
              <a:gd name="adj" fmla="val 11765"/>
            </a:avLst>
          </a:prstGeom>
          <a:solidFill>
            <a:srgbClr val="F5F7FA"/>
          </a:solidFill>
          <a:ln w="10160">
            <a:solidFill>
              <a:srgbClr val="E5EBF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67528" y="4151376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 skill retrieval</a:t>
            </a:r>
            <a:endParaRPr lang="en-US" sz="810" dirty="0"/>
          </a:p>
        </p:txBody>
      </p:sp>
      <p:sp>
        <p:nvSpPr>
          <p:cNvPr id="45" name="Shape 43"/>
          <p:cNvSpPr/>
          <p:nvPr/>
        </p:nvSpPr>
        <p:spPr>
          <a:xfrm>
            <a:off x="8174736" y="4014216"/>
            <a:ext cx="2816352" cy="621792"/>
          </a:xfrm>
          <a:prstGeom prst="roundRect">
            <a:avLst>
              <a:gd name="adj" fmla="val 11765"/>
            </a:avLst>
          </a:prstGeom>
          <a:solidFill>
            <a:srgbClr val="F5F7FA"/>
          </a:solidFill>
          <a:ln w="10160">
            <a:solidFill>
              <a:srgbClr val="E5EBF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47888" y="4151376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目标是 zero skill inference</a:t>
            </a:r>
            <a:endParaRPr lang="en-US" sz="810" dirty="0"/>
          </a:p>
        </p:txBody>
      </p:sp>
      <p:sp>
        <p:nvSpPr>
          <p:cNvPr id="47" name="Shape 45"/>
          <p:cNvSpPr/>
          <p:nvPr/>
        </p:nvSpPr>
        <p:spPr>
          <a:xfrm>
            <a:off x="502920" y="4727448"/>
            <a:ext cx="184708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E5EBF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6072" y="4864608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5966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主命题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2414016" y="4727448"/>
            <a:ext cx="2816352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E5EBF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487168" y="4864608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 agent 怎么记</a:t>
            </a:r>
            <a:endParaRPr lang="en-US" sz="810" dirty="0"/>
          </a:p>
        </p:txBody>
      </p:sp>
      <p:sp>
        <p:nvSpPr>
          <p:cNvPr id="51" name="Shape 49"/>
          <p:cNvSpPr/>
          <p:nvPr/>
        </p:nvSpPr>
        <p:spPr>
          <a:xfrm>
            <a:off x="5294376" y="4727448"/>
            <a:ext cx="2816352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E5EBF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67528" y="4864608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 agent 借助手册做题</a:t>
            </a:r>
            <a:endParaRPr lang="en-US" sz="810" dirty="0"/>
          </a:p>
        </p:txBody>
      </p:sp>
      <p:sp>
        <p:nvSpPr>
          <p:cNvPr id="53" name="Shape 51"/>
          <p:cNvSpPr/>
          <p:nvPr/>
        </p:nvSpPr>
        <p:spPr>
          <a:xfrm>
            <a:off x="8174736" y="4727448"/>
            <a:ext cx="2816352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E5EBF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247888" y="4864608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 agent 最后不用手册也会做</a:t>
            </a:r>
            <a:endParaRPr lang="en-US" sz="810" dirty="0"/>
          </a:p>
        </p:txBody>
      </p:sp>
      <p:sp>
        <p:nvSpPr>
          <p:cNvPr id="56" name="Text 53"/>
          <p:cNvSpPr/>
          <p:nvPr/>
        </p:nvSpPr>
        <p:spPr>
          <a:xfrm>
            <a:off x="11201400" y="64190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6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A7A"/>
          </a:solidFill>
          <a:ln w="12700">
            <a:solidFill>
              <a:srgbClr val="007A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64556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C9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Implications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310896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对训练团队的启发：从“经验增强”走向“经验内化”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85216" y="82296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6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SKILL0 给了一个可迁移的两段式研究路线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96112" y="1719072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EAF0FF"/>
          </a:solidFill>
          <a:ln w="10160">
            <a:solidFill>
              <a:srgbClr val="3867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1865376"/>
            <a:ext cx="181051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 rollout 质量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93008" y="1719072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FFF4D8"/>
          </a:solidFill>
          <a:ln w="10160">
            <a:solidFill>
              <a:srgbClr val="D899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39312" y="1865376"/>
            <a:ext cx="181051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经验池 / skill bank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检索或导航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9904" y="1719072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E7F5F2"/>
          </a:solidFill>
          <a:ln w="10160">
            <a:solidFill>
              <a:srgbClr val="007A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36208" y="1865376"/>
            <a:ext cx="181051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逐步减少暴露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686800" y="1719072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EAF6EE"/>
          </a:solidFill>
          <a:ln w="10160">
            <a:solidFill>
              <a:srgbClr val="2F7D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33104" y="1865376"/>
            <a:ext cx="181051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zero skill / low retrieval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17520" y="2249424"/>
            <a:ext cx="384048" cy="0"/>
          </a:xfrm>
          <a:prstGeom prst="line">
            <a:avLst/>
          </a:prstGeom>
          <a:noFill/>
          <a:ln w="17780">
            <a:solidFill>
              <a:srgbClr val="596677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614416" y="2249424"/>
            <a:ext cx="384048" cy="0"/>
          </a:xfrm>
          <a:prstGeom prst="line">
            <a:avLst/>
          </a:prstGeom>
          <a:noFill/>
          <a:ln w="17780">
            <a:solidFill>
              <a:srgbClr val="596677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211312" y="2249424"/>
            <a:ext cx="384048" cy="0"/>
          </a:xfrm>
          <a:prstGeom prst="line">
            <a:avLst/>
          </a:prstGeom>
          <a:noFill/>
          <a:ln w="17780">
            <a:solidFill>
              <a:srgbClr val="596677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50976" y="3803904"/>
            <a:ext cx="2999232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07008" y="407822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0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训练设计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225296" y="459028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把“去经验/去 skill”变成训练条件，而不是上线前的临时裁剪。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4590288" y="3803904"/>
            <a:ext cx="2999232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407822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867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评估设计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864608" y="459028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 skill/experience 要有对应验证子集，才能估计 helpfulness。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8229600" y="3803904"/>
            <a:ext cx="2999232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85632" y="407822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F7D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部署设计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503920" y="459028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上线目标可以从 full retrieval 降到 low retrieval，甚至 zero retrieval。</a:t>
            </a:r>
            <a:endParaRPr lang="en-US" sz="1020" dirty="0"/>
          </a:p>
        </p:txBody>
      </p:sp>
      <p:sp>
        <p:nvSpPr>
          <p:cNvPr id="28" name="Text 25"/>
          <p:cNvSpPr/>
          <p:nvPr/>
        </p:nvSpPr>
        <p:spPr>
          <a:xfrm>
            <a:off x="11201400" y="64190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6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A7A"/>
          </a:solidFill>
          <a:ln w="12700">
            <a:solidFill>
              <a:srgbClr val="007A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64556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C9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Implications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310896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落地时要追问的 5 个问题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85216" y="82296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6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这些问题决定 SKILL0 思路能不能迁移到我们的任务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2960" y="1371600"/>
            <a:ext cx="310896" cy="310896"/>
          </a:xfrm>
          <a:prstGeom prst="ellipse">
            <a:avLst/>
          </a:prstGeom>
          <a:solidFill>
            <a:srgbClr val="007A7A"/>
          </a:solidFill>
          <a:ln w="12700">
            <a:solidFill>
              <a:srgbClr val="007A7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21892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261872" y="133502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经验/skill 的粒度是什么？</a:t>
            </a:r>
            <a:endParaRPr lang="en-US" sz="1340" dirty="0"/>
          </a:p>
        </p:txBody>
      </p:sp>
      <p:sp>
        <p:nvSpPr>
          <p:cNvPr id="10" name="Text 8"/>
          <p:cNvSpPr/>
          <p:nvPr/>
        </p:nvSpPr>
        <p:spPr>
          <a:xfrm>
            <a:off x="4736592" y="1362456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5966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file、rule、trajectory summary，还是 action template？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822960" y="1956816"/>
            <a:ext cx="10195560" cy="0"/>
          </a:xfrm>
          <a:prstGeom prst="line">
            <a:avLst/>
          </a:prstGeom>
          <a:noFill/>
          <a:ln w="10160">
            <a:solidFill>
              <a:srgbClr val="E7EC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2286000"/>
            <a:ext cx="310896" cy="310896"/>
          </a:xfrm>
          <a:prstGeom prst="ellipse">
            <a:avLst/>
          </a:prstGeom>
          <a:solidFill>
            <a:srgbClr val="3867D6"/>
          </a:solidFill>
          <a:ln w="12700">
            <a:solidFill>
              <a:srgbClr val="3867D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336292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261872" y="224942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如何构造验证子任务？</a:t>
            </a:r>
            <a:endParaRPr lang="en-US" sz="1340" dirty="0"/>
          </a:p>
        </p:txBody>
      </p:sp>
      <p:sp>
        <p:nvSpPr>
          <p:cNvPr id="15" name="Text 13"/>
          <p:cNvSpPr/>
          <p:nvPr/>
        </p:nvSpPr>
        <p:spPr>
          <a:xfrm>
            <a:off x="4736592" y="2276856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5966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没有可分解验证集，就很难做 helpfulness-driven filtering。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822960" y="2871216"/>
            <a:ext cx="10195560" cy="0"/>
          </a:xfrm>
          <a:prstGeom prst="line">
            <a:avLst/>
          </a:prstGeom>
          <a:noFill/>
          <a:ln w="10160">
            <a:solidFill>
              <a:srgbClr val="E7EC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3200400"/>
            <a:ext cx="310896" cy="310896"/>
          </a:xfrm>
          <a:prstGeom prst="ellipse">
            <a:avLst/>
          </a:prstGeom>
          <a:solidFill>
            <a:srgbClr val="D89922"/>
          </a:solidFill>
          <a:ln w="12700">
            <a:solidFill>
              <a:srgbClr val="D8992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250692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261872" y="316382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 skill 的最终目标是什么？</a:t>
            </a:r>
            <a:endParaRPr lang="en-US" sz="1340" dirty="0"/>
          </a:p>
        </p:txBody>
      </p:sp>
      <p:sp>
        <p:nvSpPr>
          <p:cNvPr id="20" name="Text 18"/>
          <p:cNvSpPr/>
          <p:nvPr/>
        </p:nvSpPr>
        <p:spPr>
          <a:xfrm>
            <a:off x="4736592" y="3191256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5966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zero retrieval、low retrieval，还是只去掉长文本？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822960" y="3785616"/>
            <a:ext cx="10195560" cy="0"/>
          </a:xfrm>
          <a:prstGeom prst="line">
            <a:avLst/>
          </a:prstGeom>
          <a:noFill/>
          <a:ln w="10160">
            <a:solidFill>
              <a:srgbClr val="E7EC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4114800"/>
            <a:ext cx="310896" cy="310896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165092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261872" y="407822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怎样避免 false internalization？</a:t>
            </a:r>
            <a:endParaRPr lang="en-US" sz="1340" dirty="0"/>
          </a:p>
        </p:txBody>
      </p:sp>
      <p:sp>
        <p:nvSpPr>
          <p:cNvPr id="25" name="Text 23"/>
          <p:cNvSpPr/>
          <p:nvPr/>
        </p:nvSpPr>
        <p:spPr>
          <a:xfrm>
            <a:off x="4736592" y="4105656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5966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需要无 skill 验证、OOD 验证和消融，而不是只看训练 reward。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822960" y="4700016"/>
            <a:ext cx="10195560" cy="0"/>
          </a:xfrm>
          <a:prstGeom prst="line">
            <a:avLst/>
          </a:prstGeom>
          <a:noFill/>
          <a:ln w="10160">
            <a:solidFill>
              <a:srgbClr val="E7EC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" y="5029200"/>
            <a:ext cx="310896" cy="310896"/>
          </a:xfrm>
          <a:prstGeom prst="ellipse">
            <a:avLst/>
          </a:prstGeom>
          <a:solidFill>
            <a:srgbClr val="2F7D4A"/>
          </a:solidFill>
          <a:ln w="12700">
            <a:solidFill>
              <a:srgbClr val="2F7D4A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5079492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261872" y="499262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压缩效率是否值得联合优化？</a:t>
            </a:r>
            <a:endParaRPr lang="en-US" sz="1340" dirty="0"/>
          </a:p>
        </p:txBody>
      </p:sp>
      <p:sp>
        <p:nvSpPr>
          <p:cNvPr id="30" name="Text 28"/>
          <p:cNvSpPr/>
          <p:nvPr/>
        </p:nvSpPr>
        <p:spPr>
          <a:xfrm>
            <a:off x="4736592" y="5020056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5966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如果部署成本敏感，可以把 context cost 纳入 reward。</a:t>
            </a:r>
            <a:endParaRPr lang="en-US" sz="1060" dirty="0"/>
          </a:p>
        </p:txBody>
      </p:sp>
      <p:sp>
        <p:nvSpPr>
          <p:cNvPr id="31" name="Shape 29"/>
          <p:cNvSpPr/>
          <p:nvPr/>
        </p:nvSpPr>
        <p:spPr>
          <a:xfrm>
            <a:off x="822960" y="5614416"/>
            <a:ext cx="10195560" cy="0"/>
          </a:xfrm>
          <a:prstGeom prst="line">
            <a:avLst/>
          </a:prstGeom>
          <a:noFill/>
          <a:ln w="10160">
            <a:solidFill>
              <a:srgbClr val="E7ECF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1201400" y="64190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6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A7A"/>
          </a:solidFill>
          <a:ln w="12700">
            <a:solidFill>
              <a:srgbClr val="007A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64556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C98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Takeaway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310896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 takeaway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85216" y="82296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6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SKILL0 的价值在于明确提出并验证 skill internalization 训练目标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2960" y="1444752"/>
            <a:ext cx="4800600" cy="1426464"/>
          </a:xfrm>
          <a:prstGeom prst="roundRect">
            <a:avLst>
              <a:gd name="adj" fmla="val 5128"/>
            </a:avLst>
          </a:prstGeom>
          <a:solidFill>
            <a:srgbClr val="E7F5F2"/>
          </a:solidFill>
          <a:ln w="10160">
            <a:solidFill>
              <a:srgbClr val="E7F5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0704" y="1664208"/>
            <a:ext cx="310896" cy="310896"/>
          </a:xfrm>
          <a:prstGeom prst="ellipse">
            <a:avLst/>
          </a:prstGeom>
          <a:solidFill>
            <a:srgbClr val="007A7A"/>
          </a:solidFill>
          <a:ln w="12700">
            <a:solidFill>
              <a:srgbClr val="007A7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714500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536192" y="1655064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00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核心贡献不是更强 retrieval</a:t>
            </a:r>
            <a:endParaRPr lang="en-US" sz="1340" dirty="0"/>
          </a:p>
        </p:txBody>
      </p:sp>
      <p:sp>
        <p:nvSpPr>
          <p:cNvPr id="11" name="Text 9"/>
          <p:cNvSpPr/>
          <p:nvPr/>
        </p:nvSpPr>
        <p:spPr>
          <a:xfrm>
            <a:off x="1554480" y="2249424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 training with skills, inference with zero skills。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2200" y="1444752"/>
            <a:ext cx="4800600" cy="1426464"/>
          </a:xfrm>
          <a:prstGeom prst="roundRect">
            <a:avLst>
              <a:gd name="adj" fmla="val 5128"/>
            </a:avLst>
          </a:prstGeom>
          <a:solidFill>
            <a:srgbClr val="EAF0FF"/>
          </a:solidFill>
          <a:ln w="10160">
            <a:solidFill>
              <a:srgbClr val="EAF0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9944" y="1664208"/>
            <a:ext cx="310896" cy="310896"/>
          </a:xfrm>
          <a:prstGeom prst="ellipse">
            <a:avLst/>
          </a:prstGeom>
          <a:solidFill>
            <a:srgbClr val="3867D6"/>
          </a:solidFill>
          <a:ln w="12700">
            <a:solidFill>
              <a:srgbClr val="3867D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9944" y="1714500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885432" y="1655064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3867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方法论很清晰</a:t>
            </a:r>
            <a:endParaRPr lang="en-US" sz="1340" dirty="0"/>
          </a:p>
        </p:txBody>
      </p:sp>
      <p:sp>
        <p:nvSpPr>
          <p:cNvPr id="16" name="Text 14"/>
          <p:cNvSpPr/>
          <p:nvPr/>
        </p:nvSpPr>
        <p:spPr>
          <a:xfrm>
            <a:off x="6903720" y="2249424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ICRL + helpfulness-driven curriculum + visual context compression。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2960" y="3657600"/>
            <a:ext cx="4800600" cy="1426464"/>
          </a:xfrm>
          <a:prstGeom prst="roundRect">
            <a:avLst>
              <a:gd name="adj" fmla="val 5128"/>
            </a:avLst>
          </a:prstGeom>
          <a:solidFill>
            <a:srgbClr val="EAF6EE"/>
          </a:solidFill>
          <a:ln w="10160">
            <a:solidFill>
              <a:srgbClr val="EAF6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60704" y="3877056"/>
            <a:ext cx="310896" cy="310896"/>
          </a:xfrm>
          <a:prstGeom prst="ellipse">
            <a:avLst/>
          </a:prstGeom>
          <a:solidFill>
            <a:srgbClr val="2F7D4A"/>
          </a:solidFill>
          <a:ln w="12700">
            <a:solidFill>
              <a:srgbClr val="2F7D4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0704" y="3927348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536192" y="3867912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2F7D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实验支撑“脚手架可以撤掉”</a:t>
            </a:r>
            <a:endParaRPr lang="en-US" sz="1340" dirty="0"/>
          </a:p>
        </p:txBody>
      </p:sp>
      <p:sp>
        <p:nvSpPr>
          <p:cNvPr id="21" name="Text 19"/>
          <p:cNvSpPr/>
          <p:nvPr/>
        </p:nvSpPr>
        <p:spPr>
          <a:xfrm>
            <a:off x="1554480" y="4462272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早期 skill 帮助探索，后期撤掉后仍能保持甚至提升表现。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72200" y="3657600"/>
            <a:ext cx="4800600" cy="1426464"/>
          </a:xfrm>
          <a:prstGeom prst="roundRect">
            <a:avLst>
              <a:gd name="adj" fmla="val 5128"/>
            </a:avLst>
          </a:prstGeom>
          <a:solidFill>
            <a:srgbClr val="FFF4D8"/>
          </a:solidFill>
          <a:ln w="10160">
            <a:solidFill>
              <a:srgbClr val="FFF4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9944" y="3877056"/>
            <a:ext cx="310896" cy="310896"/>
          </a:xfrm>
          <a:prstGeom prst="ellipse">
            <a:avLst/>
          </a:prstGeom>
          <a:solidFill>
            <a:srgbClr val="D89922"/>
          </a:solidFill>
          <a:ln w="12700">
            <a:solidFill>
              <a:srgbClr val="D89922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9944" y="3927348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885432" y="3867912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D899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最值得迁移的是训练范式</a:t>
            </a:r>
            <a:endParaRPr lang="en-US" sz="1340" dirty="0"/>
          </a:p>
        </p:txBody>
      </p:sp>
      <p:sp>
        <p:nvSpPr>
          <p:cNvPr id="26" name="Text 24"/>
          <p:cNvSpPr/>
          <p:nvPr/>
        </p:nvSpPr>
        <p:spPr>
          <a:xfrm>
            <a:off x="6903720" y="4462272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先用经验提升 rollout，再逐步减少经验暴露，把经验写进参数。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11201400" y="64190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6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431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313F"/>
          </a:solidFill>
          <a:ln w="12700">
            <a:solidFill>
              <a:srgbClr val="24313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98755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899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最后一句话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68680" y="1874520"/>
            <a:ext cx="99669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SkillRL 在教模型“怎么更好地借助手册做题”；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MemSkill 在教模型“怎么写和维护手册”；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SKILL0 在教模型“先看手册学，最后不带手册也会做”。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96112" y="4718304"/>
            <a:ext cx="3401568" cy="73152"/>
          </a:xfrm>
          <a:prstGeom prst="rect">
            <a:avLst/>
          </a:prstGeom>
          <a:solidFill>
            <a:srgbClr val="007A7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4983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DE8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 / discussion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201400" y="64190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6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Training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SKILL0: In-Context Agentic Reinforcement Learning for Skill Internalization</dc:title>
  <dc:subject>SKILL0 paper sharing</dc:subject>
  <dc:creator>AI Assisted R&amp;D Training</dc:creator>
  <cp:lastModifiedBy>AI Assisted R&amp;D Training</cp:lastModifiedBy>
  <cp:revision>1</cp:revision>
  <dcterms:created xsi:type="dcterms:W3CDTF">2026-04-24T09:19:49Z</dcterms:created>
  <dcterms:modified xsi:type="dcterms:W3CDTF">2026-04-24T09:19:49Z</dcterms:modified>
</cp:coreProperties>
</file>